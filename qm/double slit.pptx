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0"/>
  </p:normalViewPr>
  <p:slideViewPr>
    <p:cSldViewPr snapToGrid="0">
      <p:cViewPr varScale="1">
        <p:scale>
          <a:sx n="91" d="100"/>
          <a:sy n="91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FCE1-B757-A43E-F172-848C9DFA2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1E3C2-4E6D-AF72-B1D6-D0C5B5E44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48E53-EBEA-7A58-2741-20C98908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2CB40-7D0F-162E-3FC5-E53DDB17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24F8F-6FA9-4C63-7123-F324F65A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2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D0C9-7FFF-21A1-FD8D-482C3F78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AF38-88FF-F393-2E15-AD8429D8C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2CAF-F81E-4586-3E59-372EC239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21879-0706-9ADD-15C6-489A3162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38FC-D414-A5EA-3C31-1C638A7B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08A3-ABE7-3A8D-34E1-DA6C2BFF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0ED41-01AC-79AE-4855-323053728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8EC7-20B3-1E84-9BCE-F00FBD3C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37785-8E7B-928D-0CD9-AA3160CB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058E7-EC4A-5594-F815-4F266225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3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6BDF-C0DA-A5C5-B780-9C9B6361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4A5F-2BCA-F90C-7B50-BE0A64E5C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62685-95CA-FFD8-536D-587A31AC9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95D9-B809-BC82-AF06-0A19D20A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27D69-86EC-B541-B890-28178923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9038-15B0-FEBC-69A4-FDB4DF5F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7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6949-7170-6E95-017D-3F6BD044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77A88-3BFA-2BBB-A3B0-74A56A19F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5E6C0-1D99-4D0A-08FB-5C3B9D493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3E972-5AE8-D46C-72FB-E77193148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A3EC5-85B1-DB15-D574-EB04B5ACC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164EC-A9B0-35B8-ADCD-88A0767D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41383-6FC3-8BEA-C20E-0ACA0F2A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1957AC-9AB1-FF5F-5012-8B6910DD7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6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0FB7-C77C-ECC5-B177-38FDEF992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E3F6D-37F5-D922-77B0-E6F2A6DC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E3ACB-E704-960B-3768-971E3D59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43D62-C1A8-1192-917F-98527D2A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1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9B171-3DB9-BC62-9FBB-FAC3392D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5AF0B6-F258-0E08-DD18-3E2C5D23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BD89-9805-24FE-705B-3998D8FF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68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ABC2-EEF3-3ACE-6A8E-C58609F1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15EE9-1A4F-D07F-9689-DB60E26AB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2802F-6E01-A442-17A3-9CD956EF9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72E01-29D0-D93E-6AD2-6CB35C95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F23B5-5365-70C0-C158-7E43DAE6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CEF37-BA99-ECBE-5D2B-19C8D89AA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9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CA2B-CD66-1DEC-3153-BF82D72B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6C35A-5CEA-1658-5C3E-B5019385D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32CD9-C606-2429-4F11-27B40A11C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A7F95-55E4-B210-17FF-E80C4D21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1C1D3-6750-A282-6FF8-CC988212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E0DAC-8533-427D-83C1-9F9AC97C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15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C97B-18E7-AE6A-37D5-89CD2E56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E6BD5-833C-3179-013B-C28B6305B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DECCA-430E-A699-97AE-BFAD2ADF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1547-C448-5A2E-4035-7A0B6772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C588F-D8B1-61A9-5936-34525BA04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3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8495E2-DA79-549F-E7FE-79EBC0E58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9BFDA-8298-E3CB-4299-8BE419CE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5988E-937C-347D-7B16-CCF75378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A4A4-F674-5B1B-362E-24D50C1D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2372C-CD11-7DB0-3009-9FCC3DA8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B6444-340E-B434-5117-BCD43FC0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662E2-60D1-04E0-AF7F-C997FD2C4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4C788-A32A-F5CF-2714-98099D04E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02925-4665-5F46-8E77-D7976938C888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EFFC-EC29-B4DE-92DF-C20E7F685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143A-4ABD-B609-505A-4CEF159B3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F64544-84CA-2847-8E84-7681675B6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591A6AFC-38B1-887F-A949-D11B6C5193BE}"/>
              </a:ext>
            </a:extLst>
          </p:cNvPr>
          <p:cNvGrpSpPr/>
          <p:nvPr/>
        </p:nvGrpSpPr>
        <p:grpSpPr>
          <a:xfrm>
            <a:off x="554633" y="586441"/>
            <a:ext cx="5223983" cy="3269973"/>
            <a:chOff x="352605" y="569844"/>
            <a:chExt cx="7264578" cy="441297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94920DD-1E52-5114-6229-842AAE09AC23}"/>
                </a:ext>
              </a:extLst>
            </p:cNvPr>
            <p:cNvSpPr/>
            <p:nvPr/>
          </p:nvSpPr>
          <p:spPr>
            <a:xfrm>
              <a:off x="3418905" y="728869"/>
              <a:ext cx="450574" cy="371060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BE4FDDA-6FAC-8717-62AA-069CDF374839}"/>
                </a:ext>
              </a:extLst>
            </p:cNvPr>
            <p:cNvSpPr/>
            <p:nvPr/>
          </p:nvSpPr>
          <p:spPr>
            <a:xfrm>
              <a:off x="6095999" y="728869"/>
              <a:ext cx="450574" cy="371060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FA87EB8-6F75-5707-6538-946DFCB1301D}"/>
                </a:ext>
              </a:extLst>
            </p:cNvPr>
            <p:cNvSpPr/>
            <p:nvPr/>
          </p:nvSpPr>
          <p:spPr>
            <a:xfrm>
              <a:off x="2928574" y="1666543"/>
              <a:ext cx="1429187" cy="414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158B143-9048-CFC9-39DB-D8A04D136F5B}"/>
                </a:ext>
              </a:extLst>
            </p:cNvPr>
            <p:cNvSpPr/>
            <p:nvPr/>
          </p:nvSpPr>
          <p:spPr>
            <a:xfrm>
              <a:off x="2928572" y="2888972"/>
              <a:ext cx="1292740" cy="788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6" name="Graphic 55" descr="Flashlight outline">
              <a:extLst>
                <a:ext uri="{FF2B5EF4-FFF2-40B4-BE49-F238E27FC236}">
                  <a16:creationId xmlns:a16="http://schemas.microsoft.com/office/drawing/2014/main" id="{D843EBF7-BB5A-7FE9-D658-BC43F2B81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352605" y="2193234"/>
              <a:ext cx="914400" cy="914400"/>
            </a:xfrm>
            <a:prstGeom prst="rect">
              <a:avLst/>
            </a:prstGeom>
          </p:spPr>
        </p:pic>
        <p:pic>
          <p:nvPicPr>
            <p:cNvPr id="57" name="Graphic 56" descr="Normal Distribution outline">
              <a:extLst>
                <a:ext uri="{FF2B5EF4-FFF2-40B4-BE49-F238E27FC236}">
                  <a16:creationId xmlns:a16="http://schemas.microsoft.com/office/drawing/2014/main" id="{6395A60C-F3E5-E3E6-3940-5B82FBA45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18910"/>
            <a:stretch>
              <a:fillRect/>
            </a:stretch>
          </p:blipFill>
          <p:spPr>
            <a:xfrm rot="16200000">
              <a:off x="3674087" y="1255565"/>
              <a:ext cx="3107634" cy="1736192"/>
            </a:xfrm>
            <a:prstGeom prst="rect">
              <a:avLst/>
            </a:prstGeom>
          </p:spPr>
        </p:pic>
        <p:pic>
          <p:nvPicPr>
            <p:cNvPr id="58" name="Graphic 57" descr="Normal Distribution outline">
              <a:extLst>
                <a:ext uri="{FF2B5EF4-FFF2-40B4-BE49-F238E27FC236}">
                  <a16:creationId xmlns:a16="http://schemas.microsoft.com/office/drawing/2014/main" id="{488D344A-9CF4-9AC4-95D9-186BCE3A2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18910"/>
            <a:stretch>
              <a:fillRect/>
            </a:stretch>
          </p:blipFill>
          <p:spPr>
            <a:xfrm rot="16200000">
              <a:off x="958324" y="1939140"/>
              <a:ext cx="3352800" cy="1873163"/>
            </a:xfrm>
            <a:prstGeom prst="rect">
              <a:avLst/>
            </a:prstGeom>
          </p:spPr>
        </p:pic>
        <p:pic>
          <p:nvPicPr>
            <p:cNvPr id="59" name="Graphic 58" descr="Normal Distribution outline">
              <a:extLst>
                <a:ext uri="{FF2B5EF4-FFF2-40B4-BE49-F238E27FC236}">
                  <a16:creationId xmlns:a16="http://schemas.microsoft.com/office/drawing/2014/main" id="{6175905B-5B19-660D-BE3D-76DAF29DB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18910"/>
            <a:stretch>
              <a:fillRect/>
            </a:stretch>
          </p:blipFill>
          <p:spPr>
            <a:xfrm rot="16200000">
              <a:off x="3674087" y="2560904"/>
              <a:ext cx="3107634" cy="1736192"/>
            </a:xfrm>
            <a:prstGeom prst="rect">
              <a:avLst/>
            </a:prstGeom>
          </p:spPr>
        </p:pic>
        <p:pic>
          <p:nvPicPr>
            <p:cNvPr id="60" name="Graphic 59" descr="Eye with solid fill">
              <a:extLst>
                <a:ext uri="{FF2B5EF4-FFF2-40B4-BE49-F238E27FC236}">
                  <a16:creationId xmlns:a16="http://schemas.microsoft.com/office/drawing/2014/main" id="{535057CB-52C5-B46B-358C-C960A9D02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80992" y="1063486"/>
              <a:ext cx="914400" cy="914400"/>
            </a:xfrm>
            <a:prstGeom prst="rect">
              <a:avLst/>
            </a:prstGeom>
          </p:spPr>
        </p:pic>
        <p:pic>
          <p:nvPicPr>
            <p:cNvPr id="61" name="Graphic 60" descr="Eye with solid fill">
              <a:extLst>
                <a:ext uri="{FF2B5EF4-FFF2-40B4-BE49-F238E27FC236}">
                  <a16:creationId xmlns:a16="http://schemas.microsoft.com/office/drawing/2014/main" id="{BDEA0ACA-8788-0B01-4C18-3DDDFDB62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64087" y="2080591"/>
              <a:ext cx="914400" cy="914400"/>
            </a:xfrm>
            <a:prstGeom prst="rect">
              <a:avLst/>
            </a:prstGeom>
          </p:spPr>
        </p:pic>
        <p:pic>
          <p:nvPicPr>
            <p:cNvPr id="62" name="Graphic 61" descr="Eye with solid fill">
              <a:extLst>
                <a:ext uri="{FF2B5EF4-FFF2-40B4-BE49-F238E27FC236}">
                  <a16:creationId xmlns:a16="http://schemas.microsoft.com/office/drawing/2014/main" id="{C111ED45-423B-2635-F328-218B7905A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92418" y="3160643"/>
              <a:ext cx="914400" cy="9144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7A6D3D2-EB6D-C87F-F939-0FD19AFBA2E1}"/>
                </a:ext>
              </a:extLst>
            </p:cNvPr>
            <p:cNvSpPr txBox="1"/>
            <p:nvPr/>
          </p:nvSpPr>
          <p:spPr>
            <a:xfrm>
              <a:off x="3490387" y="1620078"/>
              <a:ext cx="365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B6A5EB4-81F4-3AEE-1D11-61215C974A07}"/>
                </a:ext>
              </a:extLst>
            </p:cNvPr>
            <p:cNvSpPr txBox="1"/>
            <p:nvPr/>
          </p:nvSpPr>
          <p:spPr>
            <a:xfrm>
              <a:off x="3510268" y="3099627"/>
              <a:ext cx="365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8172733-4042-6E5E-65B6-86A866929A5A}"/>
                </a:ext>
              </a:extLst>
            </p:cNvPr>
            <p:cNvSpPr txBox="1"/>
            <p:nvPr/>
          </p:nvSpPr>
          <p:spPr>
            <a:xfrm>
              <a:off x="6886174" y="1336020"/>
              <a:ext cx="731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81864D6-7E66-FD69-8CF0-F2A1AEEF6325}"/>
                </a:ext>
              </a:extLst>
            </p:cNvPr>
            <p:cNvSpPr txBox="1"/>
            <p:nvPr/>
          </p:nvSpPr>
          <p:spPr>
            <a:xfrm>
              <a:off x="6916982" y="2399506"/>
              <a:ext cx="66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d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93385F-72FC-07FD-98D8-D6AD1C8125A0}"/>
                </a:ext>
              </a:extLst>
            </p:cNvPr>
            <p:cNvSpPr txBox="1"/>
            <p:nvPr/>
          </p:nvSpPr>
          <p:spPr>
            <a:xfrm>
              <a:off x="6916981" y="3462992"/>
              <a:ext cx="669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2B58AD-2C8D-87C7-E427-E8C3602F2673}"/>
                </a:ext>
              </a:extLst>
            </p:cNvPr>
            <p:cNvSpPr txBox="1"/>
            <p:nvPr/>
          </p:nvSpPr>
          <p:spPr>
            <a:xfrm>
              <a:off x="365395" y="2730811"/>
              <a:ext cx="365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s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5DDE740-E490-2763-B127-F0D5F41A21F6}"/>
              </a:ext>
            </a:extLst>
          </p:cNvPr>
          <p:cNvGrpSpPr/>
          <p:nvPr/>
        </p:nvGrpSpPr>
        <p:grpSpPr>
          <a:xfrm>
            <a:off x="7183265" y="957775"/>
            <a:ext cx="3172532" cy="1945399"/>
            <a:chOff x="7183265" y="957775"/>
            <a:chExt cx="3172532" cy="19453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63FADF-34F3-281C-4475-C689C80ABC87}"/>
                </a:ext>
              </a:extLst>
            </p:cNvPr>
            <p:cNvSpPr/>
            <p:nvPr/>
          </p:nvSpPr>
          <p:spPr>
            <a:xfrm>
              <a:off x="7183266" y="1116706"/>
              <a:ext cx="1029206" cy="3927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93B70C-861C-44FD-FAA0-043E61048643}"/>
                </a:ext>
              </a:extLst>
            </p:cNvPr>
            <p:cNvSpPr/>
            <p:nvPr/>
          </p:nvSpPr>
          <p:spPr>
            <a:xfrm>
              <a:off x="7183265" y="2108500"/>
              <a:ext cx="1029206" cy="3927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82F14A-FDA5-A813-36A3-CEAA9F30CFDB}"/>
                </a:ext>
              </a:extLst>
            </p:cNvPr>
            <p:cNvSpPr txBox="1"/>
            <p:nvPr/>
          </p:nvSpPr>
          <p:spPr>
            <a:xfrm>
              <a:off x="8618216" y="1219173"/>
              <a:ext cx="263077" cy="273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a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A21C72-3AC7-6DD0-63AB-8C493A67CEB6}"/>
                </a:ext>
              </a:extLst>
            </p:cNvPr>
            <p:cNvSpPr txBox="1"/>
            <p:nvPr/>
          </p:nvSpPr>
          <p:spPr>
            <a:xfrm>
              <a:off x="8632512" y="2328757"/>
              <a:ext cx="263077" cy="273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DD02333-8504-BE3B-2F45-3110635539B6}"/>
                </a:ext>
              </a:extLst>
            </p:cNvPr>
            <p:cNvSpPr txBox="1"/>
            <p:nvPr/>
          </p:nvSpPr>
          <p:spPr>
            <a:xfrm>
              <a:off x="10029190" y="957775"/>
              <a:ext cx="326607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c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48D8079-2044-83C0-B50B-579FE89EE15B}"/>
                </a:ext>
              </a:extLst>
            </p:cNvPr>
            <p:cNvSpPr txBox="1"/>
            <p:nvPr/>
          </p:nvSpPr>
          <p:spPr>
            <a:xfrm>
              <a:off x="10051344" y="1745809"/>
              <a:ext cx="299077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5D505E-0B3A-8DED-39FA-C9EA37622572}"/>
                </a:ext>
              </a:extLst>
            </p:cNvPr>
            <p:cNvSpPr txBox="1"/>
            <p:nvPr/>
          </p:nvSpPr>
          <p:spPr>
            <a:xfrm>
              <a:off x="10051343" y="2533842"/>
              <a:ext cx="299077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CD1FAD0-2B0E-E981-F351-F872C404CEA1}"/>
                </a:ext>
              </a:extLst>
            </p:cNvPr>
            <p:cNvSpPr txBox="1"/>
            <p:nvPr/>
          </p:nvSpPr>
          <p:spPr>
            <a:xfrm>
              <a:off x="7422270" y="1809293"/>
              <a:ext cx="263077" cy="27367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i="1" dirty="0"/>
                <a:t>s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0060097-57A1-7ADB-26FF-74AAC175B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2063" y="1474962"/>
              <a:ext cx="758914" cy="44466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92B3D4C-66AF-9489-C797-C21910F870EA}"/>
                </a:ext>
              </a:extLst>
            </p:cNvPr>
            <p:cNvCxnSpPr>
              <a:cxnSpLocks/>
            </p:cNvCxnSpPr>
            <p:nvPr/>
          </p:nvCxnSpPr>
          <p:spPr>
            <a:xfrm>
              <a:off x="7740873" y="2056461"/>
              <a:ext cx="770104" cy="3073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255EA39-71D5-E499-77DE-121F809FB954}"/>
                </a:ext>
              </a:extLst>
            </p:cNvPr>
            <p:cNvGrpSpPr/>
            <p:nvPr/>
          </p:nvGrpSpPr>
          <p:grpSpPr>
            <a:xfrm>
              <a:off x="8940098" y="1142441"/>
              <a:ext cx="1089092" cy="1486202"/>
              <a:chOff x="8940098" y="1142441"/>
              <a:chExt cx="1089092" cy="1486202"/>
            </a:xfrm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1297B0B6-4F41-54DA-EDBE-8E4D32CF20E7}"/>
                  </a:ext>
                </a:extLst>
              </p:cNvPr>
              <p:cNvCxnSpPr>
                <a:cxnSpLocks/>
                <a:endCxn id="26" idx="1"/>
              </p:cNvCxnSpPr>
              <p:nvPr/>
            </p:nvCxnSpPr>
            <p:spPr>
              <a:xfrm flipV="1">
                <a:off x="8940098" y="1142441"/>
                <a:ext cx="1089092" cy="2164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21A3A97-A618-A912-7D86-B170DF9E5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66361" y="1452386"/>
                <a:ext cx="1059689" cy="11762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1B848F9-FA36-8BDB-2FEC-FEDEE8151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9162" y="1399086"/>
                <a:ext cx="1008134" cy="4484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CDAAE54-DF58-574E-33A3-C8457DE3105B}"/>
                </a:ext>
              </a:extLst>
            </p:cNvPr>
            <p:cNvGrpSpPr/>
            <p:nvPr/>
          </p:nvGrpSpPr>
          <p:grpSpPr>
            <a:xfrm flipV="1">
              <a:off x="8938405" y="1293461"/>
              <a:ext cx="1073985" cy="1461175"/>
              <a:chOff x="10092565" y="1162080"/>
              <a:chExt cx="1089092" cy="1545063"/>
            </a:xfrm>
          </p:grpSpPr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CDFCF51A-A255-56A3-A769-A1B12B7D0D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92565" y="1162080"/>
                <a:ext cx="1089092" cy="2164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80B812CD-DAFC-9B2C-5CA3-27282BBF79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5169" y="1530886"/>
                <a:ext cx="1059689" cy="11762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AB737E55-E581-7F86-2E10-7CCDEA9CC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4718" y="1490838"/>
                <a:ext cx="1008134" cy="4484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Oval Callout 87">
            <a:extLst>
              <a:ext uri="{FF2B5EF4-FFF2-40B4-BE49-F238E27FC236}">
                <a16:creationId xmlns:a16="http://schemas.microsoft.com/office/drawing/2014/main" id="{9BEFFCDA-9CD7-DA8C-B8F9-EC4A99DC7354}"/>
              </a:ext>
            </a:extLst>
          </p:cNvPr>
          <p:cNvSpPr/>
          <p:nvPr/>
        </p:nvSpPr>
        <p:spPr>
          <a:xfrm>
            <a:off x="6096000" y="95505"/>
            <a:ext cx="3140765" cy="859514"/>
          </a:xfrm>
          <a:prstGeom prst="wedgeEllipseCallout">
            <a:avLst>
              <a:gd name="adj1" fmla="val 13754"/>
              <a:gd name="adj2" fmla="val 122897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probability of photon moving </a:t>
            </a:r>
            <a:r>
              <a:rPr lang="en-US" dirty="0" err="1"/>
              <a:t>s</a:t>
            </a:r>
            <a:r>
              <a:rPr lang="en-US" dirty="0" err="1">
                <a:sym typeface="Wingdings" pitchFamily="2" charset="2"/>
              </a:rPr>
              <a:t>a</a:t>
            </a:r>
            <a:endParaRPr lang="en-US" dirty="0"/>
          </a:p>
        </p:txBody>
      </p:sp>
      <p:sp>
        <p:nvSpPr>
          <p:cNvPr id="89" name="Oval Callout 88">
            <a:extLst>
              <a:ext uri="{FF2B5EF4-FFF2-40B4-BE49-F238E27FC236}">
                <a16:creationId xmlns:a16="http://schemas.microsoft.com/office/drawing/2014/main" id="{6B342EC1-A423-9847-B663-A21F340E119E}"/>
              </a:ext>
            </a:extLst>
          </p:cNvPr>
          <p:cNvSpPr/>
          <p:nvPr/>
        </p:nvSpPr>
        <p:spPr>
          <a:xfrm>
            <a:off x="7199484" y="3095313"/>
            <a:ext cx="3140765" cy="859514"/>
          </a:xfrm>
          <a:prstGeom prst="wedgeEllipseCallout">
            <a:avLst>
              <a:gd name="adj1" fmla="val 20083"/>
              <a:gd name="adj2" fmla="val -94500"/>
            </a:avLst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probability of photon moving </a:t>
            </a:r>
            <a:r>
              <a:rPr lang="en-US" dirty="0" err="1"/>
              <a:t>b</a:t>
            </a:r>
            <a:r>
              <a:rPr lang="en-US" dirty="0" err="1">
                <a:sym typeface="Wingdings" pitchFamily="2" charset="2"/>
              </a:rPr>
              <a:t>e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EE49922-70AC-D18A-8222-575E61FBC514}"/>
              </a:ext>
            </a:extLst>
          </p:cNvPr>
          <p:cNvSpPr txBox="1"/>
          <p:nvPr/>
        </p:nvSpPr>
        <p:spPr>
          <a:xfrm rot="19815816">
            <a:off x="7857867" y="1672783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0.1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C69379-66D9-F255-91D6-EE49A9C45AEE}"/>
              </a:ext>
            </a:extLst>
          </p:cNvPr>
          <p:cNvSpPr txBox="1"/>
          <p:nvPr/>
        </p:nvSpPr>
        <p:spPr>
          <a:xfrm rot="927199">
            <a:off x="7986812" y="1984221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0.2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193C34-100B-4014-0F9E-0DC00B9441F0}"/>
              </a:ext>
            </a:extLst>
          </p:cNvPr>
          <p:cNvSpPr txBox="1"/>
          <p:nvPr/>
        </p:nvSpPr>
        <p:spPr>
          <a:xfrm rot="476796">
            <a:off x="9222884" y="2374525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0.15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8A6FB12-EDF9-5D60-270C-1D58E92FFE5D}"/>
              </a:ext>
            </a:extLst>
          </p:cNvPr>
          <p:cNvSpPr txBox="1"/>
          <p:nvPr/>
        </p:nvSpPr>
        <p:spPr>
          <a:xfrm rot="20700000">
            <a:off x="9140088" y="925203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0.11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301A42-F558-6571-969C-657116CF4416}"/>
              </a:ext>
            </a:extLst>
          </p:cNvPr>
          <p:cNvSpPr txBox="1"/>
          <p:nvPr/>
        </p:nvSpPr>
        <p:spPr>
          <a:xfrm rot="900000">
            <a:off x="9112770" y="1342350"/>
            <a:ext cx="689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0FF026A-090E-7DFA-966E-E769693962E3}"/>
              </a:ext>
            </a:extLst>
          </p:cNvPr>
          <p:cNvCxnSpPr/>
          <p:nvPr/>
        </p:nvCxnSpPr>
        <p:spPr>
          <a:xfrm>
            <a:off x="5778616" y="0"/>
            <a:ext cx="0" cy="441297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37AA8BF-81D3-A5BD-7C7F-15CE04B23BEF}"/>
              </a:ext>
            </a:extLst>
          </p:cNvPr>
          <p:cNvCxnSpPr>
            <a:cxnSpLocks/>
          </p:cNvCxnSpPr>
          <p:nvPr/>
        </p:nvCxnSpPr>
        <p:spPr>
          <a:xfrm flipH="1">
            <a:off x="695368" y="4412974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7AF73D7-F7DE-7A4D-7B27-70A7D7ECDDAA}"/>
              </a:ext>
            </a:extLst>
          </p:cNvPr>
          <p:cNvCxnSpPr>
            <a:cxnSpLocks/>
          </p:cNvCxnSpPr>
          <p:nvPr/>
        </p:nvCxnSpPr>
        <p:spPr>
          <a:xfrm flipH="1">
            <a:off x="486832" y="6626"/>
            <a:ext cx="112183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22D3DA6-BEAE-F37B-ABD4-9A6F4F3847D0}"/>
              </a:ext>
            </a:extLst>
          </p:cNvPr>
          <p:cNvSpPr txBox="1"/>
          <p:nvPr/>
        </p:nvSpPr>
        <p:spPr>
          <a:xfrm>
            <a:off x="727995" y="4575405"/>
            <a:ext cx="4280741" cy="119269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physical layout of a double slit experiment.  Photons from a flashlight (s) can go through slits (a, or b) and then to one of three photon detectors (c, d, or e). 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32F4751-5E17-A843-BAB0-7AB98C65F2FD}"/>
              </a:ext>
            </a:extLst>
          </p:cNvPr>
          <p:cNvSpPr txBox="1"/>
          <p:nvPr/>
        </p:nvSpPr>
        <p:spPr>
          <a:xfrm>
            <a:off x="6139645" y="4750990"/>
            <a:ext cx="5699034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 simplified view of the paths that particles can take from the start (s) to a detector (c, d, or e).</a:t>
            </a:r>
          </a:p>
        </p:txBody>
      </p:sp>
    </p:spTree>
    <p:extLst>
      <p:ext uri="{BB962C8B-B14F-4D97-AF65-F5344CB8AC3E}">
        <p14:creationId xmlns:p14="http://schemas.microsoft.com/office/powerpoint/2010/main" val="52273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 Cohen</dc:creator>
  <cp:lastModifiedBy>William W Cohen</cp:lastModifiedBy>
  <cp:revision>3</cp:revision>
  <dcterms:created xsi:type="dcterms:W3CDTF">2025-11-23T21:56:45Z</dcterms:created>
  <dcterms:modified xsi:type="dcterms:W3CDTF">2025-11-23T22:29:54Z</dcterms:modified>
</cp:coreProperties>
</file>