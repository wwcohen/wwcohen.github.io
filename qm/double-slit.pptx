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257" r:id="rId2"/>
    <p:sldId id="256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972"/>
    <p:restoredTop sz="94648"/>
  </p:normalViewPr>
  <p:slideViewPr>
    <p:cSldViewPr snapToGrid="0">
      <p:cViewPr varScale="1">
        <p:scale>
          <a:sx n="112" d="100"/>
          <a:sy n="112" d="100"/>
        </p:scale>
        <p:origin x="25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D8C7975-7758-2A45-89D3-3D92B788EE9F}" type="datetimeFigureOut">
              <a:rPr lang="en-US" smtClean="0"/>
              <a:t>11/28/25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DB96BB1-5389-484D-8753-59F47974580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64128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B96BB1-5389-484D-8753-59F47974580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8947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3FCE1-B757-A43E-F172-848C9DFA27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141E3C2-4E6D-AF72-B1D6-D0C5B5E442F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1848E53-EBEA-7A58-2741-20C9890894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02925-4665-5F46-8E77-D7976938C888}" type="datetimeFigureOut">
              <a:rPr lang="en-US" smtClean="0"/>
              <a:t>11/28/25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B2CB40-7D0F-162E-3FC5-E53DDB1781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224F8F-6FA9-4C63-7123-F324F65A3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64544-84CA-2847-8E84-7681675B6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1244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ADD0C9-7FFF-21A1-FD8D-482C3F78E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98AF38-88FF-F393-2E15-AD8429D8C8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A42CAF-F81E-4586-3E59-372EC239FC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02925-4665-5F46-8E77-D7976938C888}" type="datetimeFigureOut">
              <a:rPr lang="en-US" smtClean="0"/>
              <a:t>11/28/25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B21879-0706-9ADD-15C6-489A316234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1238FC-D414-A5EA-3C31-1C638A7BFE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64544-84CA-2847-8E84-7681675B6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200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2608A3-ABE7-3A8D-34E1-DA6C2BFF2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700ED41-01AC-79AE-4855-3230537287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7A8EC7-20B3-1E84-9BCE-F00FBD3C7E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02925-4665-5F46-8E77-D7976938C888}" type="datetimeFigureOut">
              <a:rPr lang="en-US" smtClean="0"/>
              <a:t>11/28/25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937785-8E7B-928D-0CD9-AA3160CB91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F058E7-EC4A-5594-F815-4F2662255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64544-84CA-2847-8E84-7681675B6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3302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A6BDF-C0DA-A5C5-B780-9C9B63616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724A5F-2BCA-F90C-7B50-BE0A64E5C95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162685-95CA-FFD8-536D-587A31AC9A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31895D9-B809-BC82-AF06-0A19D20A30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02925-4665-5F46-8E77-D7976938C888}" type="datetimeFigureOut">
              <a:rPr lang="en-US" smtClean="0"/>
              <a:t>11/28/25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D627D69-86EC-B541-B890-2817892369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6B9038-15B0-FEBC-69A4-FDB4DF5F7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64544-84CA-2847-8E84-7681675B6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73720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D56949-7170-6E95-017D-3F6BD044F8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F77A88-3BFA-2BBB-A3B0-74A56A19F1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A65E6C0-1D99-4D0A-08FB-5C3B9D4933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583E972-5AE8-D46C-72FB-E7719314812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B9A3EC5-85B1-DB15-D574-EB04B5ACCB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AF164EC-A9B0-35B8-ADCD-88A0767D28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02925-4665-5F46-8E77-D7976938C888}" type="datetimeFigureOut">
              <a:rPr lang="en-US" smtClean="0"/>
              <a:t>11/28/25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3241383-6FC3-8BEA-C20E-0ACA0F2AEE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1957AC-9AB1-FF5F-5012-8B6910DD79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64544-84CA-2847-8E84-7681675B6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4561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360FB7-C77C-ECC5-B177-38FDEF992F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A0E3F6D-37F5-D922-77B0-E6F2A6DCC8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02925-4665-5F46-8E77-D7976938C888}" type="datetimeFigureOut">
              <a:rPr lang="en-US" smtClean="0"/>
              <a:t>11/28/25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18E3ACB-E704-960B-3768-971E3D5946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F243D62-C1A8-1192-917F-98527D2A4B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64544-84CA-2847-8E84-7681675B6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81199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2A9B171-3DB9-BC62-9FBB-FAC3392DAB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02925-4665-5F46-8E77-D7976938C888}" type="datetimeFigureOut">
              <a:rPr lang="en-US" smtClean="0"/>
              <a:t>11/28/25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A5AF0B6-F258-0E08-DD18-3E2C5D2329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475BD89-9805-24FE-705B-3998D8FFAC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64544-84CA-2847-8E84-7681675B6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13682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91ABC2-EEF3-3ACE-6A8E-C58609F1ED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415EE9-1A4F-D07F-9689-DB60E26ABB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D2802F-6E01-A442-17A3-9CD956EF9D1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972E01-29D0-D93E-6AD2-6CB35C9544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02925-4665-5F46-8E77-D7976938C888}" type="datetimeFigureOut">
              <a:rPr lang="en-US" smtClean="0"/>
              <a:t>11/28/25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2F23B5-5365-70C0-C158-7E43DAE6B2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B4CEF37-BA99-ECBE-5D2B-19C8D89AA4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64544-84CA-2847-8E84-7681675B6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1926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DCA2B-CD66-1DEC-3153-BF82D72BB6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6D6C35A-5CEA-1658-5C3E-B5019385D7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C32CD9-C606-2429-4F11-27B40A11C3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EEA7F95-55E4-B210-17FF-E80C4D21BF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02925-4665-5F46-8E77-D7976938C888}" type="datetimeFigureOut">
              <a:rPr lang="en-US" smtClean="0"/>
              <a:t>11/28/25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11C1D3-6750-A282-6FF8-CC988212B9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8E0DAC-8533-427D-83C1-9F9AC97C3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64544-84CA-2847-8E84-7681675B6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0157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3C97B-18E7-AE6A-37D5-89CD2E56B3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45E6BD5-833C-3179-013B-C28B6305B2C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0DECCA-430E-A699-97AE-BFAD2ADFC5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02925-4665-5F46-8E77-D7976938C888}" type="datetimeFigureOut">
              <a:rPr lang="en-US" smtClean="0"/>
              <a:t>11/28/25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E51547-C448-5A2E-4035-7A0B67724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8C588F-D8B1-61A9-5936-34525BA04F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64544-84CA-2847-8E84-7681675B6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63688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98495E2-DA79-549F-E7FE-79EBC0E58E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939BFDA-8298-E3CB-4299-8BE419CE2E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5988E-937C-347D-7B16-CCF75378A7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302925-4665-5F46-8E77-D7976938C888}" type="datetimeFigureOut">
              <a:rPr lang="en-US" smtClean="0"/>
              <a:t>11/28/25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68A4A4-F674-5B1B-362E-24D50C1D84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02372C-CD11-7DB0-3009-9FCC3DA818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F64544-84CA-2847-8E84-7681675B6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12637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A3B6444-340E-B434-5117-BCD43FC098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3662E2-60D1-04E0-AF7F-C997FD2C43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D4C788-A32A-F5CF-2714-98099D04EB2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F302925-4665-5F46-8E77-D7976938C888}" type="datetimeFigureOut">
              <a:rPr lang="en-US" smtClean="0"/>
              <a:t>11/28/25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1FEFFC-EC29-B4DE-92DF-C20E7F685D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331143A-4ABD-B609-505A-4CEF159B31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4F64544-84CA-2847-8E84-7681675B63C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20055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B3F50B-A79C-905B-7F20-D7CA6C2ED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Rectangle 51">
            <a:extLst>
              <a:ext uri="{FF2B5EF4-FFF2-40B4-BE49-F238E27FC236}">
                <a16:creationId xmlns:a16="http://schemas.microsoft.com/office/drawing/2014/main" id="{9BE6C25C-C16E-45C6-A8E8-BA6195A5A518}"/>
              </a:ext>
            </a:extLst>
          </p:cNvPr>
          <p:cNvSpPr/>
          <p:nvPr/>
        </p:nvSpPr>
        <p:spPr>
          <a:xfrm>
            <a:off x="2759620" y="704277"/>
            <a:ext cx="324009" cy="2749528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B192779-C53B-9F4C-47CF-17221D6199E8}"/>
              </a:ext>
            </a:extLst>
          </p:cNvPr>
          <p:cNvSpPr/>
          <p:nvPr/>
        </p:nvSpPr>
        <p:spPr>
          <a:xfrm>
            <a:off x="4684727" y="704277"/>
            <a:ext cx="324009" cy="2749528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F3C65449-2460-9B9D-29E2-49A9C916D5FC}"/>
              </a:ext>
            </a:extLst>
          </p:cNvPr>
          <p:cNvSpPr/>
          <p:nvPr/>
        </p:nvSpPr>
        <p:spPr>
          <a:xfrm>
            <a:off x="2407021" y="1399085"/>
            <a:ext cx="1027733" cy="30680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7AEEA9C3-0E04-77EF-CE9E-C01FF116BD6C}"/>
              </a:ext>
            </a:extLst>
          </p:cNvPr>
          <p:cNvSpPr/>
          <p:nvPr/>
        </p:nvSpPr>
        <p:spPr>
          <a:xfrm>
            <a:off x="2407020" y="2400698"/>
            <a:ext cx="929614" cy="39371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6" name="Graphic 55" descr="Flashlight outline">
            <a:extLst>
              <a:ext uri="{FF2B5EF4-FFF2-40B4-BE49-F238E27FC236}">
                <a16:creationId xmlns:a16="http://schemas.microsoft.com/office/drawing/2014/main" id="{0A6F56D9-D34C-6F32-CAA0-6A8C7AF6E4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 rot="2700000">
            <a:off x="544626" y="1799365"/>
            <a:ext cx="677562" cy="657548"/>
          </a:xfrm>
          <a:prstGeom prst="rect">
            <a:avLst/>
          </a:prstGeom>
        </p:spPr>
      </p:pic>
      <p:pic>
        <p:nvPicPr>
          <p:cNvPr id="60" name="Graphic 59" descr="Eye with solid fill">
            <a:extLst>
              <a:ext uri="{FF2B5EF4-FFF2-40B4-BE49-F238E27FC236}">
                <a16:creationId xmlns:a16="http://schemas.microsoft.com/office/drawing/2014/main" id="{DE9E040D-1899-C155-3415-12E1412393C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30115" y="952225"/>
            <a:ext cx="657548" cy="677562"/>
          </a:xfrm>
          <a:prstGeom prst="rect">
            <a:avLst/>
          </a:prstGeom>
        </p:spPr>
      </p:pic>
      <p:pic>
        <p:nvPicPr>
          <p:cNvPr id="61" name="Graphic 60" descr="Eye with solid fill">
            <a:extLst>
              <a:ext uri="{FF2B5EF4-FFF2-40B4-BE49-F238E27FC236}">
                <a16:creationId xmlns:a16="http://schemas.microsoft.com/office/drawing/2014/main" id="{16237CAE-9E63-206C-BAA2-8A75512A520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17959" y="1705891"/>
            <a:ext cx="657548" cy="677562"/>
          </a:xfrm>
          <a:prstGeom prst="rect">
            <a:avLst/>
          </a:prstGeom>
        </p:spPr>
      </p:pic>
      <p:pic>
        <p:nvPicPr>
          <p:cNvPr id="62" name="Graphic 61" descr="Eye with solid fill">
            <a:extLst>
              <a:ext uri="{FF2B5EF4-FFF2-40B4-BE49-F238E27FC236}">
                <a16:creationId xmlns:a16="http://schemas.microsoft.com/office/drawing/2014/main" id="{682A65D2-CB51-B673-4FE6-92774DD437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38332" y="2506200"/>
            <a:ext cx="657548" cy="677562"/>
          </a:xfrm>
          <a:prstGeom prst="rect">
            <a:avLst/>
          </a:prstGeom>
        </p:spPr>
      </p:pic>
      <p:sp>
        <p:nvSpPr>
          <p:cNvPr id="63" name="TextBox 62">
            <a:extLst>
              <a:ext uri="{FF2B5EF4-FFF2-40B4-BE49-F238E27FC236}">
                <a16:creationId xmlns:a16="http://schemas.microsoft.com/office/drawing/2014/main" id="{BEE44035-6989-59A9-BB98-D79F81C26738}"/>
              </a:ext>
            </a:extLst>
          </p:cNvPr>
          <p:cNvSpPr txBox="1"/>
          <p:nvPr/>
        </p:nvSpPr>
        <p:spPr>
          <a:xfrm>
            <a:off x="2811023" y="1364655"/>
            <a:ext cx="2630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b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8EE9DC8-45F1-8A43-AB26-932EC6084563}"/>
              </a:ext>
            </a:extLst>
          </p:cNvPr>
          <p:cNvSpPr txBox="1"/>
          <p:nvPr/>
        </p:nvSpPr>
        <p:spPr>
          <a:xfrm>
            <a:off x="2807031" y="2460987"/>
            <a:ext cx="2630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c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CA96744-42C3-A7AC-B300-B09B3D43CD44}"/>
              </a:ext>
            </a:extLst>
          </p:cNvPr>
          <p:cNvSpPr txBox="1"/>
          <p:nvPr/>
        </p:nvSpPr>
        <p:spPr>
          <a:xfrm>
            <a:off x="5252945" y="1154170"/>
            <a:ext cx="5256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e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BFCB132-A5BA-24AE-C4F8-FDC5524895D5}"/>
              </a:ext>
            </a:extLst>
          </p:cNvPr>
          <p:cNvSpPr txBox="1"/>
          <p:nvPr/>
        </p:nvSpPr>
        <p:spPr>
          <a:xfrm>
            <a:off x="5275099" y="1942204"/>
            <a:ext cx="48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f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06E6EDA0-91EB-E4DF-9971-5713D6C2F2CD}"/>
              </a:ext>
            </a:extLst>
          </p:cNvPr>
          <p:cNvSpPr txBox="1"/>
          <p:nvPr/>
        </p:nvSpPr>
        <p:spPr>
          <a:xfrm>
            <a:off x="5275098" y="2730237"/>
            <a:ext cx="4813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g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5EDE4C9F-C7FD-3E21-9FC4-EACA2F3CFD84}"/>
              </a:ext>
            </a:extLst>
          </p:cNvPr>
          <p:cNvSpPr txBox="1"/>
          <p:nvPr/>
        </p:nvSpPr>
        <p:spPr>
          <a:xfrm>
            <a:off x="563830" y="2187698"/>
            <a:ext cx="263077" cy="27367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9686DE-9B88-6812-CAE9-A5C571F836B9}"/>
              </a:ext>
            </a:extLst>
          </p:cNvPr>
          <p:cNvSpPr/>
          <p:nvPr/>
        </p:nvSpPr>
        <p:spPr>
          <a:xfrm>
            <a:off x="7183266" y="1116706"/>
            <a:ext cx="1029206" cy="3927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851D3B7-D76E-9B75-82DC-10BE6230A282}"/>
              </a:ext>
            </a:extLst>
          </p:cNvPr>
          <p:cNvSpPr/>
          <p:nvPr/>
        </p:nvSpPr>
        <p:spPr>
          <a:xfrm>
            <a:off x="7183265" y="2108500"/>
            <a:ext cx="1029206" cy="3927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E74F926-AEB0-CB45-C34C-2A14A44ED625}"/>
              </a:ext>
            </a:extLst>
          </p:cNvPr>
          <p:cNvSpPr txBox="1"/>
          <p:nvPr/>
        </p:nvSpPr>
        <p:spPr>
          <a:xfrm>
            <a:off x="8618216" y="1225523"/>
            <a:ext cx="263077" cy="27367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i="1" dirty="0"/>
              <a:t>a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4A403C4-E1B6-7B27-49A0-0E470B9A6764}"/>
              </a:ext>
            </a:extLst>
          </p:cNvPr>
          <p:cNvSpPr txBox="1"/>
          <p:nvPr/>
        </p:nvSpPr>
        <p:spPr>
          <a:xfrm>
            <a:off x="8632512" y="2328757"/>
            <a:ext cx="263077" cy="3693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i="1" dirty="0"/>
              <a:t>c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3CF1763-F1A9-D83F-4DCE-D1A16BDE7DE9}"/>
              </a:ext>
            </a:extLst>
          </p:cNvPr>
          <p:cNvSpPr txBox="1"/>
          <p:nvPr/>
        </p:nvSpPr>
        <p:spPr>
          <a:xfrm>
            <a:off x="10029190" y="957775"/>
            <a:ext cx="326607" cy="3693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i="1" dirty="0"/>
              <a:t>d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55AA57E-229C-67C4-A44C-CF5FE988DE9E}"/>
              </a:ext>
            </a:extLst>
          </p:cNvPr>
          <p:cNvSpPr txBox="1"/>
          <p:nvPr/>
        </p:nvSpPr>
        <p:spPr>
          <a:xfrm>
            <a:off x="10051344" y="1745809"/>
            <a:ext cx="299077" cy="3693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i="1" dirty="0"/>
              <a:t>e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8803BFF-D706-FEDF-6A3B-C4D1E4F94AF5}"/>
              </a:ext>
            </a:extLst>
          </p:cNvPr>
          <p:cNvSpPr txBox="1"/>
          <p:nvPr/>
        </p:nvSpPr>
        <p:spPr>
          <a:xfrm>
            <a:off x="10051344" y="2387299"/>
            <a:ext cx="299077" cy="3693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i="1" dirty="0"/>
              <a:t>f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7CABE3E-E462-C660-0A67-7A34E2CACA42}"/>
              </a:ext>
            </a:extLst>
          </p:cNvPr>
          <p:cNvSpPr txBox="1"/>
          <p:nvPr/>
        </p:nvSpPr>
        <p:spPr>
          <a:xfrm>
            <a:off x="7422270" y="1809293"/>
            <a:ext cx="263077" cy="27367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i="1" dirty="0"/>
              <a:t>s</a:t>
            </a: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735FF4D0-04EA-A88D-118C-FC13BD02CBD3}"/>
              </a:ext>
            </a:extLst>
          </p:cNvPr>
          <p:cNvCxnSpPr>
            <a:cxnSpLocks/>
          </p:cNvCxnSpPr>
          <p:nvPr/>
        </p:nvCxnSpPr>
        <p:spPr>
          <a:xfrm flipV="1">
            <a:off x="7752063" y="1474962"/>
            <a:ext cx="758914" cy="444663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638E3A6F-790C-AAA2-6736-029FBB0C4FB1}"/>
              </a:ext>
            </a:extLst>
          </p:cNvPr>
          <p:cNvCxnSpPr>
            <a:cxnSpLocks/>
            <a:endCxn id="25" idx="1"/>
          </p:cNvCxnSpPr>
          <p:nvPr/>
        </p:nvCxnSpPr>
        <p:spPr>
          <a:xfrm>
            <a:off x="7740873" y="2056461"/>
            <a:ext cx="891639" cy="45696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FA5AFAC7-6357-1F3F-0EC6-C396462D1EBE}"/>
              </a:ext>
            </a:extLst>
          </p:cNvPr>
          <p:cNvCxnSpPr>
            <a:cxnSpLocks/>
          </p:cNvCxnSpPr>
          <p:nvPr/>
        </p:nvCxnSpPr>
        <p:spPr>
          <a:xfrm flipV="1">
            <a:off x="9002892" y="1140398"/>
            <a:ext cx="951509" cy="63064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D1E7E9AA-77DE-82AE-8055-2E763603015F}"/>
              </a:ext>
            </a:extLst>
          </p:cNvPr>
          <p:cNvCxnSpPr>
            <a:cxnSpLocks/>
          </p:cNvCxnSpPr>
          <p:nvPr/>
        </p:nvCxnSpPr>
        <p:spPr>
          <a:xfrm>
            <a:off x="8995081" y="1953696"/>
            <a:ext cx="1030969" cy="67494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2D338E16-67F1-18E6-319A-95709A7178BF}"/>
              </a:ext>
            </a:extLst>
          </p:cNvPr>
          <p:cNvCxnSpPr>
            <a:cxnSpLocks/>
          </p:cNvCxnSpPr>
          <p:nvPr/>
        </p:nvCxnSpPr>
        <p:spPr>
          <a:xfrm flipV="1">
            <a:off x="9064671" y="1847512"/>
            <a:ext cx="932625" cy="2807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grpSp>
        <p:nvGrpSpPr>
          <p:cNvPr id="82" name="Group 81">
            <a:extLst>
              <a:ext uri="{FF2B5EF4-FFF2-40B4-BE49-F238E27FC236}">
                <a16:creationId xmlns:a16="http://schemas.microsoft.com/office/drawing/2014/main" id="{4C025BC0-2811-3273-CD49-75B0C8702EA2}"/>
              </a:ext>
            </a:extLst>
          </p:cNvPr>
          <p:cNvGrpSpPr/>
          <p:nvPr/>
        </p:nvGrpSpPr>
        <p:grpSpPr>
          <a:xfrm flipV="1">
            <a:off x="8938405" y="1293460"/>
            <a:ext cx="1057419" cy="1332008"/>
            <a:chOff x="10092565" y="1298663"/>
            <a:chExt cx="1072293" cy="1408480"/>
          </a:xfrm>
        </p:grpSpPr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0A4F5075-39D1-5065-2926-93366224F2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092565" y="1298663"/>
              <a:ext cx="966606" cy="79895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68D007CE-0C32-A1A9-8175-5A691FBC9662}"/>
                </a:ext>
              </a:extLst>
            </p:cNvPr>
            <p:cNvCxnSpPr>
              <a:cxnSpLocks/>
            </p:cNvCxnSpPr>
            <p:nvPr/>
          </p:nvCxnSpPr>
          <p:spPr>
            <a:xfrm>
              <a:off x="10105169" y="1530886"/>
              <a:ext cx="1059689" cy="1176257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59643340-BDCC-E4B5-08CE-1AD9893BD711}"/>
                </a:ext>
              </a:extLst>
            </p:cNvPr>
            <p:cNvCxnSpPr>
              <a:cxnSpLocks/>
            </p:cNvCxnSpPr>
            <p:nvPr/>
          </p:nvCxnSpPr>
          <p:spPr>
            <a:xfrm>
              <a:off x="10114718" y="1450551"/>
              <a:ext cx="1008134" cy="448426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4"/>
            </a:lnRef>
            <a:fillRef idx="0">
              <a:schemeClr val="accent4"/>
            </a:fillRef>
            <a:effectRef idx="2">
              <a:schemeClr val="accent4"/>
            </a:effectRef>
            <a:fontRef idx="minor">
              <a:schemeClr val="tx1"/>
            </a:fontRef>
          </p:style>
        </p:cxnSp>
      </p:grpSp>
      <p:sp>
        <p:nvSpPr>
          <p:cNvPr id="88" name="Oval Callout 87">
            <a:extLst>
              <a:ext uri="{FF2B5EF4-FFF2-40B4-BE49-F238E27FC236}">
                <a16:creationId xmlns:a16="http://schemas.microsoft.com/office/drawing/2014/main" id="{61EA09CC-67E8-4B6E-EB59-FCB31330FAE8}"/>
              </a:ext>
            </a:extLst>
          </p:cNvPr>
          <p:cNvSpPr/>
          <p:nvPr/>
        </p:nvSpPr>
        <p:spPr>
          <a:xfrm>
            <a:off x="6091173" y="190594"/>
            <a:ext cx="3140765" cy="859514"/>
          </a:xfrm>
          <a:prstGeom prst="wedgeEllipseCallout">
            <a:avLst>
              <a:gd name="adj1" fmla="val 19617"/>
              <a:gd name="adj2" fmla="val 104427"/>
            </a:avLst>
          </a:prstGeom>
          <a:noFill/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probability of photon moving </a:t>
            </a:r>
            <a:r>
              <a:rPr lang="en-US" dirty="0" err="1"/>
              <a:t>s</a:t>
            </a:r>
            <a:r>
              <a:rPr lang="en-US" dirty="0" err="1">
                <a:sym typeface="Wingdings" pitchFamily="2" charset="2"/>
              </a:rPr>
              <a:t>a</a:t>
            </a:r>
            <a:endParaRPr lang="en-US" dirty="0"/>
          </a:p>
        </p:txBody>
      </p:sp>
      <p:sp>
        <p:nvSpPr>
          <p:cNvPr id="89" name="Oval Callout 88">
            <a:extLst>
              <a:ext uri="{FF2B5EF4-FFF2-40B4-BE49-F238E27FC236}">
                <a16:creationId xmlns:a16="http://schemas.microsoft.com/office/drawing/2014/main" id="{2508F003-9B44-6E01-0B60-204FAA2E847C}"/>
              </a:ext>
            </a:extLst>
          </p:cNvPr>
          <p:cNvSpPr/>
          <p:nvPr/>
        </p:nvSpPr>
        <p:spPr>
          <a:xfrm>
            <a:off x="6496573" y="3068799"/>
            <a:ext cx="3140765" cy="859514"/>
          </a:xfrm>
          <a:prstGeom prst="wedgeEllipseCallout">
            <a:avLst>
              <a:gd name="adj1" fmla="val 33427"/>
              <a:gd name="adj2" fmla="val -83418"/>
            </a:avLst>
          </a:prstGeom>
          <a:noFill/>
          <a:ln w="9525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/>
              <a:t>probability of photon moving </a:t>
            </a:r>
            <a:r>
              <a:rPr lang="en-US" dirty="0" err="1"/>
              <a:t>c</a:t>
            </a:r>
            <a:r>
              <a:rPr lang="en-US" dirty="0" err="1">
                <a:sym typeface="Wingdings" pitchFamily="2" charset="2"/>
              </a:rPr>
              <a:t>g</a:t>
            </a:r>
            <a:endParaRPr lang="en-US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D49A0745-EEBB-17EB-C665-5A0C79318C67}"/>
              </a:ext>
            </a:extLst>
          </p:cNvPr>
          <p:cNvSpPr txBox="1"/>
          <p:nvPr/>
        </p:nvSpPr>
        <p:spPr>
          <a:xfrm rot="19815816">
            <a:off x="7570000" y="1574424"/>
            <a:ext cx="6891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Cambria Math" panose="02040503050406030204" pitchFamily="18" charset="0"/>
                <a:ea typeface="Cambria Math" panose="02040503050406030204" pitchFamily="18" charset="0"/>
              </a:rPr>
              <a:t>0.9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D37389BA-258E-3F98-D8C2-C20048617EEE}"/>
              </a:ext>
            </a:extLst>
          </p:cNvPr>
          <p:cNvSpPr txBox="1"/>
          <p:nvPr/>
        </p:nvSpPr>
        <p:spPr>
          <a:xfrm rot="1773497">
            <a:off x="7808798" y="2274146"/>
            <a:ext cx="6891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Cambria Math" panose="02040503050406030204" pitchFamily="18" charset="0"/>
                <a:ea typeface="Cambria Math" panose="02040503050406030204" pitchFamily="18" charset="0"/>
              </a:rPr>
              <a:t>0.05</a:t>
            </a:r>
          </a:p>
        </p:txBody>
      </p: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59B8DCF7-3DFB-6EFA-857C-50DEADD4C1CB}"/>
              </a:ext>
            </a:extLst>
          </p:cNvPr>
          <p:cNvCxnSpPr/>
          <p:nvPr/>
        </p:nvCxnSpPr>
        <p:spPr>
          <a:xfrm>
            <a:off x="5778616" y="0"/>
            <a:ext cx="0" cy="4412974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7" name="Straight Connector 96">
            <a:extLst>
              <a:ext uri="{FF2B5EF4-FFF2-40B4-BE49-F238E27FC236}">
                <a16:creationId xmlns:a16="http://schemas.microsoft.com/office/drawing/2014/main" id="{94ADF552-6567-C53F-922E-6C6F09602580}"/>
              </a:ext>
            </a:extLst>
          </p:cNvPr>
          <p:cNvCxnSpPr>
            <a:cxnSpLocks/>
          </p:cNvCxnSpPr>
          <p:nvPr/>
        </p:nvCxnSpPr>
        <p:spPr>
          <a:xfrm flipH="1">
            <a:off x="695368" y="4412974"/>
            <a:ext cx="11218336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85F12DD3-7E77-FCAF-4299-E6E80659F806}"/>
              </a:ext>
            </a:extLst>
          </p:cNvPr>
          <p:cNvCxnSpPr>
            <a:cxnSpLocks/>
          </p:cNvCxnSpPr>
          <p:nvPr/>
        </p:nvCxnSpPr>
        <p:spPr>
          <a:xfrm flipH="1">
            <a:off x="486832" y="6626"/>
            <a:ext cx="11218336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FA1DC79E-6980-0FAB-BEC2-6E481F9FCB82}"/>
              </a:ext>
            </a:extLst>
          </p:cNvPr>
          <p:cNvSpPr txBox="1"/>
          <p:nvPr/>
        </p:nvSpPr>
        <p:spPr>
          <a:xfrm>
            <a:off x="727995" y="4575405"/>
            <a:ext cx="4467885" cy="1477328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The physical layout of a double slit experiment.  Photons from a flashlight (s) can go through slits (b or c) and then to one of three photon detectors (e, f, g).  (a) is an opaque screen and (d) is a backdrop.  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B7673324-A47E-C767-3C62-BE72BC655C93}"/>
              </a:ext>
            </a:extLst>
          </p:cNvPr>
          <p:cNvSpPr txBox="1"/>
          <p:nvPr/>
        </p:nvSpPr>
        <p:spPr>
          <a:xfrm>
            <a:off x="6139645" y="4750990"/>
            <a:ext cx="5699034" cy="646331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dirty="0"/>
              <a:t>A simplified view of the paths that particles can take from the start (s) to the detector (e, f, g).</a:t>
            </a:r>
          </a:p>
        </p:txBody>
      </p:sp>
      <p:sp>
        <p:nvSpPr>
          <p:cNvPr id="4" name="Triangle 3">
            <a:extLst>
              <a:ext uri="{FF2B5EF4-FFF2-40B4-BE49-F238E27FC236}">
                <a16:creationId xmlns:a16="http://schemas.microsoft.com/office/drawing/2014/main" id="{9294DAF0-64EE-EA30-4535-6641ADDC6AB5}"/>
              </a:ext>
            </a:extLst>
          </p:cNvPr>
          <p:cNvSpPr/>
          <p:nvPr/>
        </p:nvSpPr>
        <p:spPr>
          <a:xfrm rot="16200000">
            <a:off x="2857423" y="827777"/>
            <a:ext cx="2067039" cy="1417752"/>
          </a:xfrm>
          <a:prstGeom prst="triangle">
            <a:avLst/>
          </a:prstGeom>
          <a:solidFill>
            <a:srgbClr val="FFFF00">
              <a:alpha val="11775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riangle 4">
            <a:extLst>
              <a:ext uri="{FF2B5EF4-FFF2-40B4-BE49-F238E27FC236}">
                <a16:creationId xmlns:a16="http://schemas.microsoft.com/office/drawing/2014/main" id="{779731F1-937B-0A0E-92FE-403ADE6B0028}"/>
              </a:ext>
            </a:extLst>
          </p:cNvPr>
          <p:cNvSpPr/>
          <p:nvPr/>
        </p:nvSpPr>
        <p:spPr>
          <a:xfrm rot="16200000">
            <a:off x="2834636" y="2028452"/>
            <a:ext cx="2067039" cy="1417752"/>
          </a:xfrm>
          <a:prstGeom prst="triangle">
            <a:avLst/>
          </a:prstGeom>
          <a:solidFill>
            <a:srgbClr val="FFFF00">
              <a:alpha val="11775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riangle 1">
            <a:extLst>
              <a:ext uri="{FF2B5EF4-FFF2-40B4-BE49-F238E27FC236}">
                <a16:creationId xmlns:a16="http://schemas.microsoft.com/office/drawing/2014/main" id="{71E27C64-ED80-D94B-DE78-8419A18BE62E}"/>
              </a:ext>
            </a:extLst>
          </p:cNvPr>
          <p:cNvSpPr/>
          <p:nvPr/>
        </p:nvSpPr>
        <p:spPr>
          <a:xfrm rot="16200000">
            <a:off x="892717" y="1393572"/>
            <a:ext cx="2067039" cy="1417752"/>
          </a:xfrm>
          <a:prstGeom prst="triangle">
            <a:avLst/>
          </a:prstGeom>
          <a:solidFill>
            <a:srgbClr val="FFFF00">
              <a:alpha val="11775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89A6F7B-55DF-1B64-D64E-6FD7BBEC1EE2}"/>
              </a:ext>
            </a:extLst>
          </p:cNvPr>
          <p:cNvSpPr txBox="1"/>
          <p:nvPr/>
        </p:nvSpPr>
        <p:spPr>
          <a:xfrm>
            <a:off x="2769253" y="667005"/>
            <a:ext cx="2513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bg1"/>
                </a:solidFill>
              </a:rPr>
              <a:t>a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C8E1627-FCAB-C459-DDE3-907832947069}"/>
              </a:ext>
            </a:extLst>
          </p:cNvPr>
          <p:cNvSpPr txBox="1"/>
          <p:nvPr/>
        </p:nvSpPr>
        <p:spPr>
          <a:xfrm>
            <a:off x="4721509" y="662635"/>
            <a:ext cx="2513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>
                <a:solidFill>
                  <a:schemeClr val="bg1"/>
                </a:solidFill>
              </a:rPr>
              <a:t>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DD4240-0256-DC2B-3D21-6104A5C9EA07}"/>
              </a:ext>
            </a:extLst>
          </p:cNvPr>
          <p:cNvSpPr txBox="1"/>
          <p:nvPr/>
        </p:nvSpPr>
        <p:spPr>
          <a:xfrm>
            <a:off x="8598933" y="1705121"/>
            <a:ext cx="326607" cy="369332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i="1" dirty="0"/>
              <a:t>b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33270E2-5B79-0BD9-83DB-AC27288B6879}"/>
              </a:ext>
            </a:extLst>
          </p:cNvPr>
          <p:cNvCxnSpPr>
            <a:cxnSpLocks/>
          </p:cNvCxnSpPr>
          <p:nvPr/>
        </p:nvCxnSpPr>
        <p:spPr>
          <a:xfrm>
            <a:off x="7787363" y="1955506"/>
            <a:ext cx="741465" cy="9274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B145AA17-6243-2B33-66FC-AB6BB931AAD8}"/>
              </a:ext>
            </a:extLst>
          </p:cNvPr>
          <p:cNvSpPr txBox="1"/>
          <p:nvPr/>
        </p:nvSpPr>
        <p:spPr>
          <a:xfrm>
            <a:off x="7893208" y="1938774"/>
            <a:ext cx="6891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Cambria Math" panose="02040503050406030204" pitchFamily="18" charset="0"/>
                <a:ea typeface="Cambria Math" panose="02040503050406030204" pitchFamily="18" charset="0"/>
              </a:rPr>
              <a:t>0.05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3EE78A8-6C40-0273-F9BC-D7095741638F}"/>
              </a:ext>
            </a:extLst>
          </p:cNvPr>
          <p:cNvSpPr txBox="1"/>
          <p:nvPr/>
        </p:nvSpPr>
        <p:spPr>
          <a:xfrm>
            <a:off x="10038716" y="3068799"/>
            <a:ext cx="324330" cy="369323"/>
          </a:xfrm>
          <a:prstGeom prst="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i="1" dirty="0"/>
              <a:t>g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F4275EB3-9710-C43C-D7CC-A8DE668C0FA4}"/>
              </a:ext>
            </a:extLst>
          </p:cNvPr>
          <p:cNvCxnSpPr>
            <a:cxnSpLocks/>
          </p:cNvCxnSpPr>
          <p:nvPr/>
        </p:nvCxnSpPr>
        <p:spPr>
          <a:xfrm>
            <a:off x="8959912" y="2609411"/>
            <a:ext cx="1030969" cy="67494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8810BD3-1563-8CE0-5D12-445A84077D3F}"/>
              </a:ext>
            </a:extLst>
          </p:cNvPr>
          <p:cNvCxnSpPr>
            <a:cxnSpLocks/>
          </p:cNvCxnSpPr>
          <p:nvPr/>
        </p:nvCxnSpPr>
        <p:spPr>
          <a:xfrm>
            <a:off x="8972559" y="2116720"/>
            <a:ext cx="1007136" cy="98284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8BF3ED4C-767B-6706-45D6-E02EF2E27A63}"/>
              </a:ext>
            </a:extLst>
          </p:cNvPr>
          <p:cNvSpPr txBox="1"/>
          <p:nvPr/>
        </p:nvSpPr>
        <p:spPr>
          <a:xfrm rot="2041178">
            <a:off x="9095923" y="2953995"/>
            <a:ext cx="6891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Cambria Math" panose="02040503050406030204" pitchFamily="18" charset="0"/>
                <a:ea typeface="Cambria Math" panose="02040503050406030204" pitchFamily="18" charset="0"/>
              </a:rPr>
              <a:t>0.02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D82AAA5-0EF5-1CEF-05F1-D1E6CA901829}"/>
              </a:ext>
            </a:extLst>
          </p:cNvPr>
          <p:cNvSpPr txBox="1"/>
          <p:nvPr/>
        </p:nvSpPr>
        <p:spPr>
          <a:xfrm rot="19518364">
            <a:off x="8970697" y="1264622"/>
            <a:ext cx="6891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Cambria Math" panose="02040503050406030204" pitchFamily="18" charset="0"/>
                <a:ea typeface="Cambria Math" panose="02040503050406030204" pitchFamily="18" charset="0"/>
              </a:rPr>
              <a:t>0.94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746F930-F3B9-1B58-2050-D1DA8C79C2ED}"/>
              </a:ext>
            </a:extLst>
          </p:cNvPr>
          <p:cNvSpPr txBox="1"/>
          <p:nvPr/>
        </p:nvSpPr>
        <p:spPr>
          <a:xfrm rot="18989321">
            <a:off x="9217757" y="1453992"/>
            <a:ext cx="6891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Cambria Math" panose="02040503050406030204" pitchFamily="18" charset="0"/>
                <a:ea typeface="Cambria Math" panose="02040503050406030204" pitchFamily="18" charset="0"/>
              </a:rPr>
              <a:t>0.94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304C9AD-8867-CA96-93F8-78D489656FCF}"/>
              </a:ext>
            </a:extLst>
          </p:cNvPr>
          <p:cNvSpPr txBox="1"/>
          <p:nvPr/>
        </p:nvSpPr>
        <p:spPr>
          <a:xfrm rot="2652772">
            <a:off x="9508894" y="2687673"/>
            <a:ext cx="68911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>
                <a:latin typeface="Cambria Math" panose="02040503050406030204" pitchFamily="18" charset="0"/>
                <a:ea typeface="Cambria Math" panose="02040503050406030204" pitchFamily="18" charset="0"/>
              </a:rPr>
              <a:t>0.02</a:t>
            </a:r>
          </a:p>
        </p:txBody>
      </p:sp>
    </p:spTree>
    <p:extLst>
      <p:ext uri="{BB962C8B-B14F-4D97-AF65-F5344CB8AC3E}">
        <p14:creationId xmlns:p14="http://schemas.microsoft.com/office/powerpoint/2010/main" val="534469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1" name="Straight Connector 100">
            <a:extLst>
              <a:ext uri="{FF2B5EF4-FFF2-40B4-BE49-F238E27FC236}">
                <a16:creationId xmlns:a16="http://schemas.microsoft.com/office/drawing/2014/main" id="{F7AF73D7-F7DE-7A4D-7B27-70A7D7ECDDAA}"/>
              </a:ext>
            </a:extLst>
          </p:cNvPr>
          <p:cNvCxnSpPr>
            <a:cxnSpLocks/>
          </p:cNvCxnSpPr>
          <p:nvPr/>
        </p:nvCxnSpPr>
        <p:spPr>
          <a:xfrm flipH="1">
            <a:off x="486832" y="6626"/>
            <a:ext cx="11218336" cy="0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6F369347-FE72-CABF-B5E2-B45D98077A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5600329"/>
              </p:ext>
            </p:extLst>
          </p:nvPr>
        </p:nvGraphicFramePr>
        <p:xfrm>
          <a:off x="622267" y="370730"/>
          <a:ext cx="5151264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7088">
                  <a:extLst>
                    <a:ext uri="{9D8B030D-6E8A-4147-A177-3AD203B41FA5}">
                      <a16:colId xmlns:a16="http://schemas.microsoft.com/office/drawing/2014/main" val="9969200"/>
                    </a:ext>
                  </a:extLst>
                </a:gridCol>
                <a:gridCol w="1717088">
                  <a:extLst>
                    <a:ext uri="{9D8B030D-6E8A-4147-A177-3AD203B41FA5}">
                      <a16:colId xmlns:a16="http://schemas.microsoft.com/office/drawing/2014/main" val="2363718372"/>
                    </a:ext>
                  </a:extLst>
                </a:gridCol>
                <a:gridCol w="1717088">
                  <a:extLst>
                    <a:ext uri="{9D8B030D-6E8A-4147-A177-3AD203B41FA5}">
                      <a16:colId xmlns:a16="http://schemas.microsoft.com/office/drawing/2014/main" val="1819051342"/>
                    </a:ext>
                  </a:extLst>
                </a:gridCol>
              </a:tblGrid>
              <a:tr h="318173">
                <a:tc gridSpan="3">
                  <a:txBody>
                    <a:bodyPr/>
                    <a:lstStyle/>
                    <a:p>
                      <a:pPr algn="ctr"/>
                      <a:r>
                        <a:rPr lang="en-US" dirty="0"/>
                        <a:t>R: Raphael’s Shopping List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5482171"/>
                  </a:ext>
                </a:extLst>
              </a:tr>
              <a:tr h="318173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(a) Apples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(b) Brown sugar (small bag)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(c) Choc chips (12 oz bag)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67173763"/>
                  </a:ext>
                </a:extLst>
              </a:tr>
              <a:tr h="318173">
                <a:tc>
                  <a:txBody>
                    <a:bodyPr/>
                    <a:lstStyle/>
                    <a:p>
                      <a:pPr algn="ctr"/>
                      <a:r>
                        <a:rPr lang="en-US" i="1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i="1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9121122"/>
                  </a:ext>
                </a:extLst>
              </a:tr>
            </a:tbl>
          </a:graphicData>
        </a:graphic>
      </p:graphicFrame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6C4A50AB-B951-5553-C33F-60E70F461F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6825056"/>
              </p:ext>
            </p:extLst>
          </p:nvPr>
        </p:nvGraphicFramePr>
        <p:xfrm>
          <a:off x="648347" y="1860936"/>
          <a:ext cx="5151264" cy="23183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7088">
                  <a:extLst>
                    <a:ext uri="{9D8B030D-6E8A-4147-A177-3AD203B41FA5}">
                      <a16:colId xmlns:a16="http://schemas.microsoft.com/office/drawing/2014/main" val="4092026021"/>
                    </a:ext>
                  </a:extLst>
                </a:gridCol>
                <a:gridCol w="1717088">
                  <a:extLst>
                    <a:ext uri="{9D8B030D-6E8A-4147-A177-3AD203B41FA5}">
                      <a16:colId xmlns:a16="http://schemas.microsoft.com/office/drawing/2014/main" val="3995195705"/>
                    </a:ext>
                  </a:extLst>
                </a:gridCol>
                <a:gridCol w="1717088">
                  <a:extLst>
                    <a:ext uri="{9D8B030D-6E8A-4147-A177-3AD203B41FA5}">
                      <a16:colId xmlns:a16="http://schemas.microsoft.com/office/drawing/2014/main" val="2796921869"/>
                    </a:ext>
                  </a:extLst>
                </a:gridCol>
              </a:tblGrid>
              <a:tr h="579591">
                <a:tc>
                  <a:txBody>
                    <a:bodyPr/>
                    <a:lstStyle/>
                    <a:p>
                      <a:pPr algn="ctr"/>
                      <a:r>
                        <a:rPr lang="en-US" i="0" dirty="0">
                          <a:solidFill>
                            <a:schemeClr val="tx1"/>
                          </a:solidFill>
                        </a:rPr>
                        <a:t>P: Prices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(e) Giant Eagle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(f) Food Lion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2701466"/>
                  </a:ext>
                </a:extLst>
              </a:tr>
              <a:tr h="57959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(a) Apples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0.80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97390408"/>
                  </a:ext>
                </a:extLst>
              </a:tr>
              <a:tr h="57959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(b) Brown sugar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1.50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1.00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3163573"/>
                  </a:ext>
                </a:extLst>
              </a:tr>
              <a:tr h="579591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(c) Choc Chips</a:t>
                      </a:r>
                    </a:p>
                  </a:txBody>
                  <a:tcP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4.00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dirty="0"/>
                        <a:t>4.50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4278958"/>
                  </a:ext>
                </a:extLst>
              </a:tr>
            </a:tbl>
          </a:graphicData>
        </a:graphic>
      </p:graphicFrame>
      <p:grpSp>
        <p:nvGrpSpPr>
          <p:cNvPr id="37" name="Group 36">
            <a:extLst>
              <a:ext uri="{FF2B5EF4-FFF2-40B4-BE49-F238E27FC236}">
                <a16:creationId xmlns:a16="http://schemas.microsoft.com/office/drawing/2014/main" id="{E81BF540-E0D9-3F46-6369-F1ED35827678}"/>
              </a:ext>
            </a:extLst>
          </p:cNvPr>
          <p:cNvGrpSpPr/>
          <p:nvPr/>
        </p:nvGrpSpPr>
        <p:grpSpPr>
          <a:xfrm>
            <a:off x="6769152" y="1124616"/>
            <a:ext cx="3167156" cy="2330751"/>
            <a:chOff x="6891717" y="1636878"/>
            <a:chExt cx="3167156" cy="2330751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D32986BB-53B2-5EBA-4BD5-B12E1C4CE448}"/>
                </a:ext>
              </a:extLst>
            </p:cNvPr>
            <p:cNvGrpSpPr/>
            <p:nvPr/>
          </p:nvGrpSpPr>
          <p:grpSpPr>
            <a:xfrm>
              <a:off x="6891717" y="1636878"/>
              <a:ext cx="3167156" cy="2330751"/>
              <a:chOff x="888482" y="1281404"/>
              <a:chExt cx="3167156" cy="2330751"/>
            </a:xfrm>
          </p:grpSpPr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1963FADF-34F3-281C-4475-C689C80ABC87}"/>
                  </a:ext>
                </a:extLst>
              </p:cNvPr>
              <p:cNvSpPr/>
              <p:nvPr/>
            </p:nvSpPr>
            <p:spPr>
              <a:xfrm>
                <a:off x="888483" y="1281404"/>
                <a:ext cx="1029206" cy="39279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6493B70C-861C-44FD-FAA0-043E61048643}"/>
                  </a:ext>
                </a:extLst>
              </p:cNvPr>
              <p:cNvSpPr/>
              <p:nvPr/>
            </p:nvSpPr>
            <p:spPr>
              <a:xfrm>
                <a:off x="888482" y="2273198"/>
                <a:ext cx="1029206" cy="39279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0B82F14A-FDA5-A813-36A3-CEAA9F30CFDB}"/>
                  </a:ext>
                </a:extLst>
              </p:cNvPr>
              <p:cNvSpPr txBox="1"/>
              <p:nvPr/>
            </p:nvSpPr>
            <p:spPr>
              <a:xfrm>
                <a:off x="2323433" y="1383871"/>
                <a:ext cx="263077" cy="27367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i="1" dirty="0"/>
                  <a:t>a</a:t>
                </a:r>
              </a:p>
            </p:txBody>
          </p: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6AA21C72-3AC7-6DD0-63AB-8C493A67CEB6}"/>
                  </a:ext>
                </a:extLst>
              </p:cNvPr>
              <p:cNvSpPr txBox="1"/>
              <p:nvPr/>
            </p:nvSpPr>
            <p:spPr>
              <a:xfrm>
                <a:off x="2337729" y="2238771"/>
                <a:ext cx="277879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i="1" dirty="0"/>
                  <a:t>b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8DD02333-8504-BE3B-2F45-3110635539B6}"/>
                  </a:ext>
                </a:extLst>
              </p:cNvPr>
              <p:cNvSpPr txBox="1"/>
              <p:nvPr/>
            </p:nvSpPr>
            <p:spPr>
              <a:xfrm>
                <a:off x="2303173" y="3242823"/>
                <a:ext cx="326607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i="1" dirty="0"/>
                  <a:t>c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048D8079-2044-83C0-B50B-579FE89EE15B}"/>
                  </a:ext>
                </a:extLst>
              </p:cNvPr>
              <p:cNvSpPr txBox="1"/>
              <p:nvPr/>
            </p:nvSpPr>
            <p:spPr>
              <a:xfrm>
                <a:off x="3756561" y="1910507"/>
                <a:ext cx="299077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i="1" dirty="0"/>
                  <a:t>e</a:t>
                </a:r>
              </a:p>
            </p:txBody>
          </p:sp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B75D505E-0B3A-8DED-39FA-C9EA37622572}"/>
                  </a:ext>
                </a:extLst>
              </p:cNvPr>
              <p:cNvSpPr txBox="1"/>
              <p:nvPr/>
            </p:nvSpPr>
            <p:spPr>
              <a:xfrm>
                <a:off x="3756560" y="2698540"/>
                <a:ext cx="299077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i="1" dirty="0"/>
                  <a:t>f</a:t>
                </a:r>
              </a:p>
            </p:txBody>
          </p: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ACD1FAD0-2B0E-E981-F351-F872C404CEA1}"/>
                  </a:ext>
                </a:extLst>
              </p:cNvPr>
              <p:cNvSpPr txBox="1"/>
              <p:nvPr/>
            </p:nvSpPr>
            <p:spPr>
              <a:xfrm>
                <a:off x="1127487" y="1973991"/>
                <a:ext cx="263077" cy="369332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i="1" dirty="0"/>
                  <a:t>r</a:t>
                </a:r>
              </a:p>
            </p:txBody>
          </p:sp>
          <p:cxnSp>
            <p:nvCxnSpPr>
              <p:cNvPr id="70" name="Straight Arrow Connector 69">
                <a:extLst>
                  <a:ext uri="{FF2B5EF4-FFF2-40B4-BE49-F238E27FC236}">
                    <a16:creationId xmlns:a16="http://schemas.microsoft.com/office/drawing/2014/main" id="{00060097-57A1-7ADB-26FF-74AAC175B44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457280" y="1639660"/>
                <a:ext cx="758914" cy="444663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accent4"/>
              </a:lnRef>
              <a:fillRef idx="0">
                <a:schemeClr val="accent4"/>
              </a:fillRef>
              <a:effectRef idx="2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75" name="Straight Arrow Connector 74">
                <a:extLst>
                  <a:ext uri="{FF2B5EF4-FFF2-40B4-BE49-F238E27FC236}">
                    <a16:creationId xmlns:a16="http://schemas.microsoft.com/office/drawing/2014/main" id="{B92B3D4C-66AF-9489-C797-C21910F870E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46090" y="2221159"/>
                <a:ext cx="812451" cy="24843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accent4"/>
              </a:lnRef>
              <a:fillRef idx="0">
                <a:schemeClr val="accent4"/>
              </a:fillRef>
              <a:effectRef idx="2">
                <a:schemeClr val="accent4"/>
              </a:effectRef>
              <a:fontRef idx="minor">
                <a:schemeClr val="tx1"/>
              </a:fontRef>
            </p:style>
          </p:cxnSp>
          <p:grpSp>
            <p:nvGrpSpPr>
              <p:cNvPr id="81" name="Group 80">
                <a:extLst>
                  <a:ext uri="{FF2B5EF4-FFF2-40B4-BE49-F238E27FC236}">
                    <a16:creationId xmlns:a16="http://schemas.microsoft.com/office/drawing/2014/main" id="{6255EA39-71D5-E499-77DE-121F809FB954}"/>
                  </a:ext>
                </a:extLst>
              </p:cNvPr>
              <p:cNvGrpSpPr/>
              <p:nvPr/>
            </p:nvGrpSpPr>
            <p:grpSpPr>
              <a:xfrm>
                <a:off x="1457280" y="1563784"/>
                <a:ext cx="2273987" cy="1863705"/>
                <a:chOff x="7752063" y="1399086"/>
                <a:chExt cx="2273987" cy="1863705"/>
              </a:xfrm>
            </p:grpSpPr>
            <p:cxnSp>
              <p:nvCxnSpPr>
                <p:cNvPr id="71" name="Straight Arrow Connector 70">
                  <a:extLst>
                    <a:ext uri="{FF2B5EF4-FFF2-40B4-BE49-F238E27FC236}">
                      <a16:creationId xmlns:a16="http://schemas.microsoft.com/office/drawing/2014/main" id="{1297B0B6-4F41-54DA-EDBE-8E4D32CF20E7}"/>
                    </a:ext>
                  </a:extLst>
                </p:cNvPr>
                <p:cNvCxnSpPr>
                  <a:cxnSpLocks/>
                  <a:endCxn id="26" idx="1"/>
                </p:cNvCxnSpPr>
                <p:nvPr/>
              </p:nvCxnSpPr>
              <p:spPr>
                <a:xfrm>
                  <a:off x="7752063" y="2219422"/>
                  <a:ext cx="845893" cy="1043369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4"/>
                </a:lnRef>
                <a:fillRef idx="0">
                  <a:schemeClr val="accent4"/>
                </a:fillRef>
                <a:effectRef idx="2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77" name="Straight Arrow Connector 76">
                  <a:extLst>
                    <a:ext uri="{FF2B5EF4-FFF2-40B4-BE49-F238E27FC236}">
                      <a16:creationId xmlns:a16="http://schemas.microsoft.com/office/drawing/2014/main" id="{421A3A97-A618-A912-7D86-B170DF9E594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66361" y="1452386"/>
                  <a:ext cx="1059689" cy="1176257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4"/>
                </a:lnRef>
                <a:fillRef idx="0">
                  <a:schemeClr val="accent4"/>
                </a:fillRef>
                <a:effectRef idx="2">
                  <a:schemeClr val="accent4"/>
                </a:effectRef>
                <a:fontRef idx="minor">
                  <a:schemeClr val="tx1"/>
                </a:fontRef>
              </p:style>
            </p:cxnSp>
            <p:cxnSp>
              <p:nvCxnSpPr>
                <p:cNvPr id="79" name="Straight Arrow Connector 78">
                  <a:extLst>
                    <a:ext uri="{FF2B5EF4-FFF2-40B4-BE49-F238E27FC236}">
                      <a16:creationId xmlns:a16="http://schemas.microsoft.com/office/drawing/2014/main" id="{91B848F9-FA36-8BDB-2FEC-FEDEE8151A9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8989162" y="1399086"/>
                  <a:ext cx="965239" cy="506612"/>
                </a:xfrm>
                <a:prstGeom prst="straightConnector1">
                  <a:avLst/>
                </a:prstGeom>
                <a:ln>
                  <a:tailEnd type="triangle"/>
                </a:ln>
              </p:spPr>
              <p:style>
                <a:lnRef idx="3">
                  <a:schemeClr val="accent4"/>
                </a:lnRef>
                <a:fillRef idx="0">
                  <a:schemeClr val="accent4"/>
                </a:fillRef>
                <a:effectRef idx="2">
                  <a:schemeClr val="accent4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83" name="Straight Arrow Connector 82">
                <a:extLst>
                  <a:ext uri="{FF2B5EF4-FFF2-40B4-BE49-F238E27FC236}">
                    <a16:creationId xmlns:a16="http://schemas.microsoft.com/office/drawing/2014/main" id="{CDFCF51A-A255-56A3-A769-A1B12B7D0DE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94379" y="2528512"/>
                <a:ext cx="1023228" cy="39082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accent4"/>
              </a:lnRef>
              <a:fillRef idx="0">
                <a:schemeClr val="accent4"/>
              </a:fillRef>
              <a:effectRef idx="2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84" name="Straight Arrow Connector 83">
                <a:extLst>
                  <a:ext uri="{FF2B5EF4-FFF2-40B4-BE49-F238E27FC236}">
                    <a16:creationId xmlns:a16="http://schemas.microsoft.com/office/drawing/2014/main" id="{80B812CD-DAFC-9B2C-5CA3-27282BBF793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80867" y="2296584"/>
                <a:ext cx="978751" cy="98950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accent4"/>
              </a:lnRef>
              <a:fillRef idx="0">
                <a:schemeClr val="accent4"/>
              </a:fillRef>
              <a:effectRef idx="2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85" name="Straight Arrow Connector 84">
                <a:extLst>
                  <a:ext uri="{FF2B5EF4-FFF2-40B4-BE49-F238E27FC236}">
                    <a16:creationId xmlns:a16="http://schemas.microsoft.com/office/drawing/2014/main" id="{AB737E55-E581-7F86-2E10-7CCDEA9CCF4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94379" y="2184347"/>
                <a:ext cx="965239" cy="246574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accent4"/>
              </a:lnRef>
              <a:fillRef idx="0">
                <a:schemeClr val="accent4"/>
              </a:fillRef>
              <a:effectRef idx="2">
                <a:schemeClr val="accent4"/>
              </a:effectRef>
              <a:fontRef idx="minor">
                <a:schemeClr val="tx1"/>
              </a:fontRef>
            </p:style>
          </p:cxnSp>
          <p:cxnSp>
            <p:nvCxnSpPr>
              <p:cNvPr id="5" name="Straight Arrow Connector 4">
                <a:extLst>
                  <a:ext uri="{FF2B5EF4-FFF2-40B4-BE49-F238E27FC236}">
                    <a16:creationId xmlns:a16="http://schemas.microsoft.com/office/drawing/2014/main" id="{F0757F9C-BBBE-2935-740D-E3D54F03873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656284" y="3054681"/>
                <a:ext cx="1029838" cy="38606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3">
                <a:schemeClr val="accent4"/>
              </a:lnRef>
              <a:fillRef idx="0">
                <a:schemeClr val="accent4"/>
              </a:fillRef>
              <a:effectRef idx="2">
                <a:schemeClr val="accent4"/>
              </a:effectRef>
              <a:fontRef idx="minor">
                <a:schemeClr val="tx1"/>
              </a:fontRef>
            </p:style>
          </p:cxnSp>
        </p:grp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8E5DF9ED-C268-A2D2-841D-1363F541F497}"/>
                </a:ext>
              </a:extLst>
            </p:cNvPr>
            <p:cNvSpPr txBox="1"/>
            <p:nvPr/>
          </p:nvSpPr>
          <p:spPr>
            <a:xfrm>
              <a:off x="7688310" y="1795769"/>
              <a:ext cx="2862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6</a:t>
              </a: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A525A2E1-5D32-A1EF-7DD2-744D77CD8791}"/>
                </a:ext>
              </a:extLst>
            </p:cNvPr>
            <p:cNvSpPr txBox="1"/>
            <p:nvPr/>
          </p:nvSpPr>
          <p:spPr>
            <a:xfrm>
              <a:off x="7787095" y="2347464"/>
              <a:ext cx="2862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</a:t>
              </a: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D93EB953-B9AE-D4B7-B7A4-99C1298F47D1}"/>
                </a:ext>
              </a:extLst>
            </p:cNvPr>
            <p:cNvSpPr txBox="1"/>
            <p:nvPr/>
          </p:nvSpPr>
          <p:spPr>
            <a:xfrm>
              <a:off x="7884808" y="3054014"/>
              <a:ext cx="2862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</a:t>
              </a:r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E9DF64B1-75D1-CB32-FF06-F302E9F94E7A}"/>
                </a:ext>
              </a:extLst>
            </p:cNvPr>
            <p:cNvSpPr txBox="1"/>
            <p:nvPr/>
          </p:nvSpPr>
          <p:spPr>
            <a:xfrm>
              <a:off x="9008357" y="1840900"/>
              <a:ext cx="2862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52DBEA6C-7752-AC9B-2986-85B8248726A7}"/>
                </a:ext>
              </a:extLst>
            </p:cNvPr>
            <p:cNvSpPr txBox="1"/>
            <p:nvPr/>
          </p:nvSpPr>
          <p:spPr>
            <a:xfrm>
              <a:off x="8434807" y="2065893"/>
              <a:ext cx="5726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0.8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D2C36308-752E-5E8F-017F-85D452BC5327}"/>
                </a:ext>
              </a:extLst>
            </p:cNvPr>
            <p:cNvSpPr txBox="1"/>
            <p:nvPr/>
          </p:nvSpPr>
          <p:spPr>
            <a:xfrm>
              <a:off x="8653545" y="2399565"/>
              <a:ext cx="5726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1.5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4E5C3AE-B759-0C64-9A7C-8CD075DC36F0}"/>
                </a:ext>
              </a:extLst>
            </p:cNvPr>
            <p:cNvSpPr txBox="1"/>
            <p:nvPr/>
          </p:nvSpPr>
          <p:spPr>
            <a:xfrm>
              <a:off x="8992062" y="2753927"/>
              <a:ext cx="5726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1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C25EDDDE-A06B-5BC3-6FE3-584ED076E152}"/>
                </a:ext>
              </a:extLst>
            </p:cNvPr>
            <p:cNvSpPr txBox="1"/>
            <p:nvPr/>
          </p:nvSpPr>
          <p:spPr>
            <a:xfrm>
              <a:off x="8628650" y="3174459"/>
              <a:ext cx="5726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4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D561B7B4-1AAD-DD8D-31B8-E7D2E6E286B5}"/>
                </a:ext>
              </a:extLst>
            </p:cNvPr>
            <p:cNvSpPr txBox="1"/>
            <p:nvPr/>
          </p:nvSpPr>
          <p:spPr>
            <a:xfrm>
              <a:off x="9039528" y="3246406"/>
              <a:ext cx="5726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4.5</a:t>
              </a:r>
            </a:p>
          </p:txBody>
        </p:sp>
      </p:grpSp>
      <p:sp>
        <p:nvSpPr>
          <p:cNvPr id="38" name="TextBox 37">
            <a:extLst>
              <a:ext uri="{FF2B5EF4-FFF2-40B4-BE49-F238E27FC236}">
                <a16:creationId xmlns:a16="http://schemas.microsoft.com/office/drawing/2014/main" id="{21EC76B6-174E-BB2C-0438-D2C9E01FA27A}"/>
              </a:ext>
            </a:extLst>
          </p:cNvPr>
          <p:cNvSpPr txBox="1"/>
          <p:nvPr/>
        </p:nvSpPr>
        <p:spPr>
          <a:xfrm>
            <a:off x="1046556" y="4620172"/>
            <a:ext cx="8590674" cy="203132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u="sng" dirty="0"/>
              <a:t>Cost at Giant Eagle: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6 apples * $1/apple +  1 bag sugar * $1.50/bag  + 1 bag chips *  $4.00/bag = $11.50</a:t>
            </a:r>
          </a:p>
          <a:p>
            <a:pPr algn="ctr"/>
            <a:endParaRPr lang="en-US" dirty="0"/>
          </a:p>
          <a:p>
            <a:pPr algn="ctr"/>
            <a:r>
              <a:rPr lang="en-US" u="sng" dirty="0"/>
              <a:t>Cost at Food Lion: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 6 apples * $0.8/apple + 1 bag sugar * $1.50/bag  + 1 bag chips *  $4.00/bag = $10.30</a:t>
            </a:r>
          </a:p>
        </p:txBody>
      </p:sp>
    </p:spTree>
    <p:extLst>
      <p:ext uri="{BB962C8B-B14F-4D97-AF65-F5344CB8AC3E}">
        <p14:creationId xmlns:p14="http://schemas.microsoft.com/office/powerpoint/2010/main" val="5227368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</TotalTime>
  <Words>265</Words>
  <Application>Microsoft Macintosh PowerPoint</Application>
  <PresentationFormat>Widescreen</PresentationFormat>
  <Paragraphs>69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Aptos</vt:lpstr>
      <vt:lpstr>Aptos Display</vt:lpstr>
      <vt:lpstr>Arial</vt:lpstr>
      <vt:lpstr>Cambria Math</vt:lpstr>
      <vt:lpstr>Wingdings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William W Cohen</dc:creator>
  <cp:lastModifiedBy>William W Cohen</cp:lastModifiedBy>
  <cp:revision>20</cp:revision>
  <dcterms:created xsi:type="dcterms:W3CDTF">2025-11-23T21:56:45Z</dcterms:created>
  <dcterms:modified xsi:type="dcterms:W3CDTF">2025-11-28T22:08:37Z</dcterms:modified>
</cp:coreProperties>
</file>