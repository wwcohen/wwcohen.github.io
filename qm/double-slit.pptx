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53"/>
    <p:restoredTop sz="94631"/>
  </p:normalViewPr>
  <p:slideViewPr>
    <p:cSldViewPr snapToGrid="0">
      <p:cViewPr varScale="1">
        <p:scale>
          <a:sx n="97" d="100"/>
          <a:sy n="97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8C7975-7758-2A45-89D3-3D92B788EE9F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B96BB1-5389-484D-8753-59F479745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412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3FCE1-B757-A43E-F172-848C9DFA27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1E3C2-4E6D-AF72-B1D6-D0C5B5E44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48E53-EBEA-7A58-2741-20C98908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2CB40-7D0F-162E-3FC5-E53DDB17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24F8F-6FA9-4C63-7123-F324F65A3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124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DD0C9-7FFF-21A1-FD8D-482C3F78E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AF38-88FF-F393-2E15-AD8429D8C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2CAF-F81E-4586-3E59-372EC239F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B21879-0706-9ADD-15C6-489A31623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38FC-D414-A5EA-3C31-1C638A7BF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0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608A3-ABE7-3A8D-34E1-DA6C2BFF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00ED41-01AC-79AE-4855-323053728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8EC7-20B3-1E84-9BCE-F00FBD3C7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37785-8E7B-928D-0CD9-AA3160CB9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058E7-EC4A-5594-F815-4F2662255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3302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A6BDF-C0DA-A5C5-B780-9C9B63616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4A5F-2BCA-F90C-7B50-BE0A64E5C9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162685-95CA-FFD8-536D-587A31AC9A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1895D9-B809-BC82-AF06-0A19D20A3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27D69-86EC-B541-B890-28178923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B9038-15B0-FEBC-69A4-FDB4DF5F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372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6949-7170-6E95-017D-3F6BD044F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77A88-3BFA-2BBB-A3B0-74A56A19F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5E6C0-1D99-4D0A-08FB-5C3B9D493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83E972-5AE8-D46C-72FB-E771931481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A3EC5-85B1-DB15-D574-EB04B5ACC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F164EC-A9B0-35B8-ADCD-88A0767D2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41383-6FC3-8BEA-C20E-0ACA0F2AE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1957AC-9AB1-FF5F-5012-8B6910DD7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56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60FB7-C77C-ECC5-B177-38FDEF992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0E3F6D-37F5-D922-77B0-E6F2A6DCC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8E3ACB-E704-960B-3768-971E3D594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43D62-C1A8-1192-917F-98527D2A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19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A9B171-3DB9-BC62-9FBB-FAC3392DA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5AF0B6-F258-0E08-DD18-3E2C5D232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5BD89-9805-24FE-705B-3998D8FFA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368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1ABC2-EEF3-3ACE-6A8E-C58609F1E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15EE9-1A4F-D07F-9689-DB60E26AB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D2802F-6E01-A442-17A3-9CD956EF9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972E01-29D0-D93E-6AD2-6CB35C954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F23B5-5365-70C0-C158-7E43DAE6B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CEF37-BA99-ECBE-5D2B-19C8D89AA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92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CA2B-CD66-1DEC-3153-BF82D72B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D6C35A-5CEA-1658-5C3E-B5019385D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32CD9-C606-2429-4F11-27B40A11C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A7F95-55E4-B210-17FF-E80C4D21B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1C1D3-6750-A282-6FF8-CC988212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E0DAC-8533-427D-83C1-9F9AC97C3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015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C97B-18E7-AE6A-37D5-89CD2E56B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5E6BD5-833C-3179-013B-C28B6305B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DECCA-430E-A699-97AE-BFAD2ADFC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1547-C448-5A2E-4035-7A0B67724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C588F-D8B1-61A9-5936-34525BA04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636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8495E2-DA79-549F-E7FE-79EBC0E58E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39BFDA-8298-E3CB-4299-8BE419CE2E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5988E-937C-347D-7B16-CCF75378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8A4A4-F674-5B1B-362E-24D50C1D8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2372C-CD11-7DB0-3009-9FCC3DA81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63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3B6444-340E-B434-5117-BCD43FC0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3662E2-60D1-04E0-AF7F-C997FD2C4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4C788-A32A-F5CF-2714-98099D04EB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FEFFC-EC29-B4DE-92DF-C20E7F685D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1143A-4ABD-B609-505A-4CEF159B31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005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3F50B-A79C-905B-7F20-D7CA6C2E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9BE6C25C-C16E-45C6-A8E8-BA6195A5A518}"/>
              </a:ext>
            </a:extLst>
          </p:cNvPr>
          <p:cNvSpPr/>
          <p:nvPr/>
        </p:nvSpPr>
        <p:spPr>
          <a:xfrm>
            <a:off x="2759620" y="704277"/>
            <a:ext cx="324009" cy="274952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B192779-C53B-9F4C-47CF-17221D6199E8}"/>
              </a:ext>
            </a:extLst>
          </p:cNvPr>
          <p:cNvSpPr/>
          <p:nvPr/>
        </p:nvSpPr>
        <p:spPr>
          <a:xfrm>
            <a:off x="4684727" y="704277"/>
            <a:ext cx="324009" cy="274952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3C65449-2460-9B9D-29E2-49A9C916D5FC}"/>
              </a:ext>
            </a:extLst>
          </p:cNvPr>
          <p:cNvSpPr/>
          <p:nvPr/>
        </p:nvSpPr>
        <p:spPr>
          <a:xfrm>
            <a:off x="2417181" y="1431277"/>
            <a:ext cx="1027733" cy="2746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AEEA9C3-0E04-77EF-CE9E-C01FF116BD6C}"/>
              </a:ext>
            </a:extLst>
          </p:cNvPr>
          <p:cNvSpPr/>
          <p:nvPr/>
        </p:nvSpPr>
        <p:spPr>
          <a:xfrm>
            <a:off x="2407020" y="2501290"/>
            <a:ext cx="929614" cy="2931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Graphic 55" descr="Flashlight outline">
            <a:extLst>
              <a:ext uri="{FF2B5EF4-FFF2-40B4-BE49-F238E27FC236}">
                <a16:creationId xmlns:a16="http://schemas.microsoft.com/office/drawing/2014/main" id="{0A6F56D9-D34C-6F32-CAA0-6A8C7AF6E4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700000">
            <a:off x="544626" y="1799365"/>
            <a:ext cx="677562" cy="65754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BEE44035-6989-59A9-BB98-D79F81C26738}"/>
              </a:ext>
            </a:extLst>
          </p:cNvPr>
          <p:cNvSpPr txBox="1"/>
          <p:nvPr/>
        </p:nvSpPr>
        <p:spPr>
          <a:xfrm>
            <a:off x="2800863" y="1399085"/>
            <a:ext cx="214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b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EE9DC8-45F1-8A43-AB26-932EC6084563}"/>
              </a:ext>
            </a:extLst>
          </p:cNvPr>
          <p:cNvSpPr txBox="1"/>
          <p:nvPr/>
        </p:nvSpPr>
        <p:spPr>
          <a:xfrm>
            <a:off x="2786711" y="2460987"/>
            <a:ext cx="263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A96744-42C3-A7AC-B300-B09B3D43CD44}"/>
              </a:ext>
            </a:extLst>
          </p:cNvPr>
          <p:cNvSpPr txBox="1"/>
          <p:nvPr/>
        </p:nvSpPr>
        <p:spPr>
          <a:xfrm>
            <a:off x="4999221" y="1176658"/>
            <a:ext cx="525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BFCB132-A5BA-24AE-C4F8-FDC5524895D5}"/>
              </a:ext>
            </a:extLst>
          </p:cNvPr>
          <p:cNvSpPr txBox="1"/>
          <p:nvPr/>
        </p:nvSpPr>
        <p:spPr>
          <a:xfrm>
            <a:off x="5041611" y="2003032"/>
            <a:ext cx="48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6E6EDA0-91EB-E4DF-9971-5713D6C2F2CD}"/>
              </a:ext>
            </a:extLst>
          </p:cNvPr>
          <p:cNvSpPr txBox="1"/>
          <p:nvPr/>
        </p:nvSpPr>
        <p:spPr>
          <a:xfrm>
            <a:off x="5054895" y="2896099"/>
            <a:ext cx="48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g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DE4C9F-C7FD-3E21-9FC4-EACA2F3CFD84}"/>
              </a:ext>
            </a:extLst>
          </p:cNvPr>
          <p:cNvSpPr txBox="1"/>
          <p:nvPr/>
        </p:nvSpPr>
        <p:spPr>
          <a:xfrm>
            <a:off x="563830" y="2187698"/>
            <a:ext cx="263077" cy="2736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9686DE-9B88-6812-CAE9-A5C571F836B9}"/>
              </a:ext>
            </a:extLst>
          </p:cNvPr>
          <p:cNvSpPr/>
          <p:nvPr/>
        </p:nvSpPr>
        <p:spPr>
          <a:xfrm>
            <a:off x="7183266" y="1116706"/>
            <a:ext cx="1029206" cy="392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51D3B7-D76E-9B75-82DC-10BE6230A282}"/>
              </a:ext>
            </a:extLst>
          </p:cNvPr>
          <p:cNvSpPr/>
          <p:nvPr/>
        </p:nvSpPr>
        <p:spPr>
          <a:xfrm>
            <a:off x="7183265" y="2108500"/>
            <a:ext cx="1029206" cy="392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74F926-AEB0-CB45-C34C-2A14A44ED625}"/>
              </a:ext>
            </a:extLst>
          </p:cNvPr>
          <p:cNvSpPr txBox="1"/>
          <p:nvPr/>
        </p:nvSpPr>
        <p:spPr>
          <a:xfrm>
            <a:off x="8593502" y="1167795"/>
            <a:ext cx="30988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A403C4-E1B6-7B27-49A0-0E470B9A6764}"/>
              </a:ext>
            </a:extLst>
          </p:cNvPr>
          <p:cNvSpPr txBox="1"/>
          <p:nvPr/>
        </p:nvSpPr>
        <p:spPr>
          <a:xfrm>
            <a:off x="8632512" y="2328757"/>
            <a:ext cx="263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CF1763-F1A9-D83F-4DCE-D1A16BDE7DE9}"/>
              </a:ext>
            </a:extLst>
          </p:cNvPr>
          <p:cNvSpPr txBox="1"/>
          <p:nvPr/>
        </p:nvSpPr>
        <p:spPr>
          <a:xfrm>
            <a:off x="10029190" y="957775"/>
            <a:ext cx="32660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5AA57E-229C-67C4-A44C-CF5FE988DE9E}"/>
              </a:ext>
            </a:extLst>
          </p:cNvPr>
          <p:cNvSpPr txBox="1"/>
          <p:nvPr/>
        </p:nvSpPr>
        <p:spPr>
          <a:xfrm>
            <a:off x="10051344" y="1745809"/>
            <a:ext cx="299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803BFF-D706-FEDF-6A3B-C4D1E4F94AF5}"/>
              </a:ext>
            </a:extLst>
          </p:cNvPr>
          <p:cNvSpPr txBox="1"/>
          <p:nvPr/>
        </p:nvSpPr>
        <p:spPr>
          <a:xfrm>
            <a:off x="10051344" y="2387299"/>
            <a:ext cx="299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CABE3E-E462-C660-0A67-7A34E2CACA42}"/>
              </a:ext>
            </a:extLst>
          </p:cNvPr>
          <p:cNvSpPr txBox="1"/>
          <p:nvPr/>
        </p:nvSpPr>
        <p:spPr>
          <a:xfrm>
            <a:off x="7422270" y="1761463"/>
            <a:ext cx="263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r>
              <a:rPr lang="en-US" i="1" dirty="0"/>
              <a:t>s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735FF4D0-04EA-A88D-118C-FC13BD02CBD3}"/>
              </a:ext>
            </a:extLst>
          </p:cNvPr>
          <p:cNvCxnSpPr>
            <a:cxnSpLocks/>
          </p:cNvCxnSpPr>
          <p:nvPr/>
        </p:nvCxnSpPr>
        <p:spPr>
          <a:xfrm flipV="1">
            <a:off x="7752063" y="1474962"/>
            <a:ext cx="758914" cy="4446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38E3A6F-790C-AAA2-6736-029FBB0C4FB1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740873" y="2056461"/>
            <a:ext cx="891639" cy="4569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A5AFAC7-6357-1F3F-0EC6-C396462D1EBE}"/>
              </a:ext>
            </a:extLst>
          </p:cNvPr>
          <p:cNvCxnSpPr>
            <a:cxnSpLocks/>
          </p:cNvCxnSpPr>
          <p:nvPr/>
        </p:nvCxnSpPr>
        <p:spPr>
          <a:xfrm flipV="1">
            <a:off x="9002892" y="1140398"/>
            <a:ext cx="951509" cy="6306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1E7E9AA-77DE-82AE-8055-2E763603015F}"/>
              </a:ext>
            </a:extLst>
          </p:cNvPr>
          <p:cNvCxnSpPr>
            <a:cxnSpLocks/>
          </p:cNvCxnSpPr>
          <p:nvPr/>
        </p:nvCxnSpPr>
        <p:spPr>
          <a:xfrm>
            <a:off x="8995081" y="1953696"/>
            <a:ext cx="1030969" cy="67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D338E16-67F1-18E6-319A-95709A7178BF}"/>
              </a:ext>
            </a:extLst>
          </p:cNvPr>
          <p:cNvCxnSpPr>
            <a:cxnSpLocks/>
          </p:cNvCxnSpPr>
          <p:nvPr/>
        </p:nvCxnSpPr>
        <p:spPr>
          <a:xfrm flipV="1">
            <a:off x="9064671" y="1847512"/>
            <a:ext cx="932625" cy="280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C025BC0-2811-3273-CD49-75B0C8702EA2}"/>
              </a:ext>
            </a:extLst>
          </p:cNvPr>
          <p:cNvGrpSpPr/>
          <p:nvPr/>
        </p:nvGrpSpPr>
        <p:grpSpPr>
          <a:xfrm flipV="1">
            <a:off x="8938405" y="1293460"/>
            <a:ext cx="1057419" cy="1332008"/>
            <a:chOff x="10092565" y="1298663"/>
            <a:chExt cx="1072293" cy="1408480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0A4F5075-39D1-5065-2926-93366224F2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92565" y="1298663"/>
              <a:ext cx="966606" cy="7989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68D007CE-0C32-A1A9-8175-5A691FBC9662}"/>
                </a:ext>
              </a:extLst>
            </p:cNvPr>
            <p:cNvCxnSpPr>
              <a:cxnSpLocks/>
            </p:cNvCxnSpPr>
            <p:nvPr/>
          </p:nvCxnSpPr>
          <p:spPr>
            <a:xfrm>
              <a:off x="10105169" y="1530886"/>
              <a:ext cx="1059689" cy="117625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9643340-BDCC-E4B5-08CE-1AD9893BD711}"/>
                </a:ext>
              </a:extLst>
            </p:cNvPr>
            <p:cNvCxnSpPr>
              <a:cxnSpLocks/>
            </p:cNvCxnSpPr>
            <p:nvPr/>
          </p:nvCxnSpPr>
          <p:spPr>
            <a:xfrm>
              <a:off x="10114718" y="1450551"/>
              <a:ext cx="1008134" cy="44842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88" name="Oval Callout 87">
            <a:extLst>
              <a:ext uri="{FF2B5EF4-FFF2-40B4-BE49-F238E27FC236}">
                <a16:creationId xmlns:a16="http://schemas.microsoft.com/office/drawing/2014/main" id="{61EA09CC-67E8-4B6E-EB59-FCB31330FAE8}"/>
              </a:ext>
            </a:extLst>
          </p:cNvPr>
          <p:cNvSpPr/>
          <p:nvPr/>
        </p:nvSpPr>
        <p:spPr>
          <a:xfrm>
            <a:off x="6091173" y="190594"/>
            <a:ext cx="3140765" cy="859514"/>
          </a:xfrm>
          <a:prstGeom prst="wedgeEllipseCallout">
            <a:avLst>
              <a:gd name="adj1" fmla="val 13060"/>
              <a:gd name="adj2" fmla="val 113053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k Free" panose="03080402000500000000" pitchFamily="66" charset="0"/>
              </a:rPr>
              <a:t>probability of photon moving </a:t>
            </a:r>
            <a:r>
              <a:rPr lang="en-US" dirty="0" err="1">
                <a:latin typeface="Ink Free" panose="03080402000500000000" pitchFamily="66" charset="0"/>
              </a:rPr>
              <a:t>s</a:t>
            </a:r>
            <a:r>
              <a:rPr lang="en-US" dirty="0" err="1">
                <a:latin typeface="Ink Free" panose="03080402000500000000" pitchFamily="66" charset="0"/>
                <a:sym typeface="Wingdings" pitchFamily="2" charset="2"/>
              </a:rPr>
              <a:t>a</a:t>
            </a:r>
            <a:endParaRPr lang="en-US" dirty="0">
              <a:latin typeface="Ink Free" panose="03080402000500000000" pitchFamily="66" charset="0"/>
            </a:endParaRPr>
          </a:p>
        </p:txBody>
      </p:sp>
      <p:sp>
        <p:nvSpPr>
          <p:cNvPr id="89" name="Oval Callout 88">
            <a:extLst>
              <a:ext uri="{FF2B5EF4-FFF2-40B4-BE49-F238E27FC236}">
                <a16:creationId xmlns:a16="http://schemas.microsoft.com/office/drawing/2014/main" id="{2508F003-9B44-6E01-0B60-204FAA2E847C}"/>
              </a:ext>
            </a:extLst>
          </p:cNvPr>
          <p:cNvSpPr/>
          <p:nvPr/>
        </p:nvSpPr>
        <p:spPr>
          <a:xfrm>
            <a:off x="5883754" y="3316377"/>
            <a:ext cx="3119138" cy="859514"/>
          </a:xfrm>
          <a:prstGeom prst="wedgeEllipseCallout">
            <a:avLst>
              <a:gd name="adj1" fmla="val 60180"/>
              <a:gd name="adj2" fmla="val -67125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k Free" panose="03080402000500000000" pitchFamily="66" charset="0"/>
              </a:rPr>
              <a:t>probability of photon moving </a:t>
            </a:r>
            <a:r>
              <a:rPr lang="en-US" dirty="0" err="1">
                <a:latin typeface="Ink Free" panose="03080402000500000000" pitchFamily="66" charset="0"/>
              </a:rPr>
              <a:t>c</a:t>
            </a:r>
            <a:r>
              <a:rPr lang="en-US" dirty="0" err="1">
                <a:latin typeface="Ink Free" panose="03080402000500000000" pitchFamily="66" charset="0"/>
                <a:sym typeface="Wingdings" pitchFamily="2" charset="2"/>
              </a:rPr>
              <a:t>g</a:t>
            </a:r>
            <a:endParaRPr lang="en-US" dirty="0">
              <a:latin typeface="Ink Free" panose="03080402000500000000" pitchFamily="66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49A0745-EEBB-17EB-C665-5A0C79318C67}"/>
              </a:ext>
            </a:extLst>
          </p:cNvPr>
          <p:cNvSpPr txBox="1"/>
          <p:nvPr/>
        </p:nvSpPr>
        <p:spPr>
          <a:xfrm rot="19815816">
            <a:off x="7570000" y="1574424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7389BA-258E-3F98-D8C2-C20048617EEE}"/>
              </a:ext>
            </a:extLst>
          </p:cNvPr>
          <p:cNvSpPr txBox="1"/>
          <p:nvPr/>
        </p:nvSpPr>
        <p:spPr>
          <a:xfrm rot="1773497">
            <a:off x="7808798" y="2274146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0.05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9B8DCF7-3DFB-6EFA-857C-50DEADD4C1CB}"/>
              </a:ext>
            </a:extLst>
          </p:cNvPr>
          <p:cNvCxnSpPr/>
          <p:nvPr/>
        </p:nvCxnSpPr>
        <p:spPr>
          <a:xfrm>
            <a:off x="5778616" y="0"/>
            <a:ext cx="0" cy="441297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4ADF552-6567-C53F-922E-6C6F09602580}"/>
              </a:ext>
            </a:extLst>
          </p:cNvPr>
          <p:cNvCxnSpPr>
            <a:cxnSpLocks/>
          </p:cNvCxnSpPr>
          <p:nvPr/>
        </p:nvCxnSpPr>
        <p:spPr>
          <a:xfrm flipH="1">
            <a:off x="695368" y="4412974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85F12DD3-7E77-FCAF-4299-E6E80659F806}"/>
              </a:ext>
            </a:extLst>
          </p:cNvPr>
          <p:cNvCxnSpPr>
            <a:cxnSpLocks/>
          </p:cNvCxnSpPr>
          <p:nvPr/>
        </p:nvCxnSpPr>
        <p:spPr>
          <a:xfrm flipH="1">
            <a:off x="486832" y="6626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FA1DC79E-6980-0FAB-BEC2-6E481F9FCB82}"/>
              </a:ext>
            </a:extLst>
          </p:cNvPr>
          <p:cNvSpPr txBox="1"/>
          <p:nvPr/>
        </p:nvSpPr>
        <p:spPr>
          <a:xfrm>
            <a:off x="467605" y="4548112"/>
            <a:ext cx="5028946" cy="147732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Left: The physical layout of a two slit experiment.  Photons from a light source (s) can go through slits (b or c) and then to one of three photon detectors (e, f, g).  Both (a) and (d) are opaque, non-reflective screens.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7673324-A47E-C767-3C62-BE72BC655C93}"/>
              </a:ext>
            </a:extLst>
          </p:cNvPr>
          <p:cNvSpPr txBox="1"/>
          <p:nvPr/>
        </p:nvSpPr>
        <p:spPr>
          <a:xfrm>
            <a:off x="5574875" y="4575405"/>
            <a:ext cx="6484603" cy="207181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Right: The paths that photons can take from the start (s) to the detectors (e, f, g), along with the probabilities of following each edge.  To find the probability of following a path like 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be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 you would multiply the probabilities of the  edges: in this case p(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sbe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 = p(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sb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)*p(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be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 = 0.05 * 0.02 = 0.001.  To find the total probability of a photon reaching (e), sum the weight of all the paths, so p(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se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 = 0.05 * 0.02 + 0.05 * 0.02 = 0.002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9294DAF0-64EE-EA30-4535-6641ADDC6AB5}"/>
              </a:ext>
            </a:extLst>
          </p:cNvPr>
          <p:cNvSpPr/>
          <p:nvPr/>
        </p:nvSpPr>
        <p:spPr>
          <a:xfrm rot="16200000">
            <a:off x="2857423" y="827777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4">
            <a:extLst>
              <a:ext uri="{FF2B5EF4-FFF2-40B4-BE49-F238E27FC236}">
                <a16:creationId xmlns:a16="http://schemas.microsoft.com/office/drawing/2014/main" id="{779731F1-937B-0A0E-92FE-403ADE6B0028}"/>
              </a:ext>
            </a:extLst>
          </p:cNvPr>
          <p:cNvSpPr/>
          <p:nvPr/>
        </p:nvSpPr>
        <p:spPr>
          <a:xfrm rot="16200000">
            <a:off x="2834636" y="2028452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71E27C64-ED80-D94B-DE78-8419A18BE62E}"/>
              </a:ext>
            </a:extLst>
          </p:cNvPr>
          <p:cNvSpPr/>
          <p:nvPr/>
        </p:nvSpPr>
        <p:spPr>
          <a:xfrm rot="16200000">
            <a:off x="892717" y="1393572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9A6F7B-55DF-1B64-D64E-6FD7BBEC1EE2}"/>
              </a:ext>
            </a:extLst>
          </p:cNvPr>
          <p:cNvSpPr txBox="1"/>
          <p:nvPr/>
        </p:nvSpPr>
        <p:spPr>
          <a:xfrm>
            <a:off x="2769253" y="667005"/>
            <a:ext cx="251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8E1627-FCAB-C459-DDE3-907832947069}"/>
              </a:ext>
            </a:extLst>
          </p:cNvPr>
          <p:cNvSpPr txBox="1"/>
          <p:nvPr/>
        </p:nvSpPr>
        <p:spPr>
          <a:xfrm>
            <a:off x="4670709" y="662635"/>
            <a:ext cx="251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DD4240-0256-DC2B-3D21-6104A5C9EA07}"/>
              </a:ext>
            </a:extLst>
          </p:cNvPr>
          <p:cNvSpPr txBox="1"/>
          <p:nvPr/>
        </p:nvSpPr>
        <p:spPr>
          <a:xfrm>
            <a:off x="8598933" y="1705121"/>
            <a:ext cx="32660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b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3270E2-5B79-0BD9-83DB-AC27288B6879}"/>
              </a:ext>
            </a:extLst>
          </p:cNvPr>
          <p:cNvCxnSpPr>
            <a:cxnSpLocks/>
          </p:cNvCxnSpPr>
          <p:nvPr/>
        </p:nvCxnSpPr>
        <p:spPr>
          <a:xfrm>
            <a:off x="7787363" y="1955506"/>
            <a:ext cx="741465" cy="92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5AA17-6243-2B33-66FC-AB6BB931AAD8}"/>
              </a:ext>
            </a:extLst>
          </p:cNvPr>
          <p:cNvSpPr txBox="1"/>
          <p:nvPr/>
        </p:nvSpPr>
        <p:spPr>
          <a:xfrm>
            <a:off x="7893208" y="1938774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EE78A8-6C40-0273-F9BC-D7095741638F}"/>
              </a:ext>
            </a:extLst>
          </p:cNvPr>
          <p:cNvSpPr txBox="1"/>
          <p:nvPr/>
        </p:nvSpPr>
        <p:spPr>
          <a:xfrm>
            <a:off x="10038716" y="3068799"/>
            <a:ext cx="324330" cy="36932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g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275EB3-9710-C43C-D7CC-A8DE668C0FA4}"/>
              </a:ext>
            </a:extLst>
          </p:cNvPr>
          <p:cNvCxnSpPr>
            <a:cxnSpLocks/>
          </p:cNvCxnSpPr>
          <p:nvPr/>
        </p:nvCxnSpPr>
        <p:spPr>
          <a:xfrm>
            <a:off x="8959912" y="2609411"/>
            <a:ext cx="1030969" cy="67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8810BD3-1563-8CE0-5D12-445A84077D3F}"/>
              </a:ext>
            </a:extLst>
          </p:cNvPr>
          <p:cNvCxnSpPr>
            <a:cxnSpLocks/>
          </p:cNvCxnSpPr>
          <p:nvPr/>
        </p:nvCxnSpPr>
        <p:spPr>
          <a:xfrm>
            <a:off x="8972559" y="2116720"/>
            <a:ext cx="1007136" cy="982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F3ED4C-767B-6706-45D6-E02EF2E27A63}"/>
              </a:ext>
            </a:extLst>
          </p:cNvPr>
          <p:cNvSpPr txBox="1"/>
          <p:nvPr/>
        </p:nvSpPr>
        <p:spPr>
          <a:xfrm rot="2041178">
            <a:off x="9095923" y="2953995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2AAA5-0EF5-1CEF-05F1-D1E6CA901829}"/>
              </a:ext>
            </a:extLst>
          </p:cNvPr>
          <p:cNvSpPr txBox="1"/>
          <p:nvPr/>
        </p:nvSpPr>
        <p:spPr>
          <a:xfrm rot="19518364">
            <a:off x="8970697" y="1264622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0.94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46F930-F3B9-1B58-2050-D1DA8C79C2ED}"/>
              </a:ext>
            </a:extLst>
          </p:cNvPr>
          <p:cNvSpPr txBox="1"/>
          <p:nvPr/>
        </p:nvSpPr>
        <p:spPr>
          <a:xfrm rot="18989321">
            <a:off x="9217757" y="1453992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0.94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04C9AD-8867-CA96-93F8-78D489656FCF}"/>
              </a:ext>
            </a:extLst>
          </p:cNvPr>
          <p:cNvSpPr txBox="1"/>
          <p:nvPr/>
        </p:nvSpPr>
        <p:spPr>
          <a:xfrm rot="2652772">
            <a:off x="9508894" y="2687673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82FEA-E25A-568C-F7E6-F2EDE49729C1}"/>
              </a:ext>
            </a:extLst>
          </p:cNvPr>
          <p:cNvSpPr txBox="1"/>
          <p:nvPr/>
        </p:nvSpPr>
        <p:spPr>
          <a:xfrm>
            <a:off x="9295510" y="1806827"/>
            <a:ext cx="8527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133C4D-3281-0FB5-52C2-94BAA83E2AA9}"/>
              </a:ext>
            </a:extLst>
          </p:cNvPr>
          <p:cNvSpPr txBox="1"/>
          <p:nvPr/>
        </p:nvSpPr>
        <p:spPr>
          <a:xfrm rot="20190385">
            <a:off x="9446362" y="2090517"/>
            <a:ext cx="8527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0.02</a:t>
            </a:r>
          </a:p>
        </p:txBody>
      </p:sp>
      <p:pic>
        <p:nvPicPr>
          <p:cNvPr id="1026" name="Picture 2" descr="1,900+ Eyes Looking Side Stock Illustrations, Royalty-Free Vector Graphics  &amp; Clip Art - iStock | Woman eyes looking side">
            <a:extLst>
              <a:ext uri="{FF2B5EF4-FFF2-40B4-BE49-F238E27FC236}">
                <a16:creationId xmlns:a16="http://schemas.microsoft.com/office/drawing/2014/main" id="{83C4604F-2666-1812-4FF9-EEA60C87A1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711" y="2896099"/>
            <a:ext cx="344852" cy="3406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pic>
      <p:pic>
        <p:nvPicPr>
          <p:cNvPr id="13" name="Picture 2" descr="1,900+ Eyes Looking Side Stock Illustrations, Royalty-Free Vector Graphics  &amp; Clip Art - iStock | Woman eyes looking side">
            <a:extLst>
              <a:ext uri="{FF2B5EF4-FFF2-40B4-BE49-F238E27FC236}">
                <a16:creationId xmlns:a16="http://schemas.microsoft.com/office/drawing/2014/main" id="{E283D604-6BA5-FF86-EF7F-D50EA0B30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711" y="1983236"/>
            <a:ext cx="344852" cy="3406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pic>
      <p:pic>
        <p:nvPicPr>
          <p:cNvPr id="15" name="Picture 2" descr="1,900+ Eyes Looking Side Stock Illustrations, Royalty-Free Vector Graphics  &amp; Clip Art - iStock | Woman eyes looking side">
            <a:extLst>
              <a:ext uri="{FF2B5EF4-FFF2-40B4-BE49-F238E27FC236}">
                <a16:creationId xmlns:a16="http://schemas.microsoft.com/office/drawing/2014/main" id="{4D5A1C9B-A1A1-C289-3C1A-D730A78CFC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711" y="1194315"/>
            <a:ext cx="344852" cy="3406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534469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E7045-728C-7939-8588-DA835F28F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A7CA8D-C1B1-6332-B8F3-E9B99DF2C11B}"/>
              </a:ext>
            </a:extLst>
          </p:cNvPr>
          <p:cNvSpPr/>
          <p:nvPr/>
        </p:nvSpPr>
        <p:spPr>
          <a:xfrm>
            <a:off x="7183266" y="1116706"/>
            <a:ext cx="1029206" cy="392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741F58-4B1B-7B26-BEC2-07D13692F9FE}"/>
              </a:ext>
            </a:extLst>
          </p:cNvPr>
          <p:cNvSpPr/>
          <p:nvPr/>
        </p:nvSpPr>
        <p:spPr>
          <a:xfrm>
            <a:off x="7183265" y="2108500"/>
            <a:ext cx="1029206" cy="392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38490C-2F3D-AE89-FCB2-419BFB8035EE}"/>
              </a:ext>
            </a:extLst>
          </p:cNvPr>
          <p:cNvSpPr txBox="1"/>
          <p:nvPr/>
        </p:nvSpPr>
        <p:spPr>
          <a:xfrm>
            <a:off x="8593502" y="1167795"/>
            <a:ext cx="30988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EE8DA3-03DC-0AE8-925E-A0A6A49C16E2}"/>
              </a:ext>
            </a:extLst>
          </p:cNvPr>
          <p:cNvSpPr txBox="1"/>
          <p:nvPr/>
        </p:nvSpPr>
        <p:spPr>
          <a:xfrm>
            <a:off x="8632512" y="2328757"/>
            <a:ext cx="263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8437F9-A5A5-12B3-A4A7-7F50759F8B8E}"/>
              </a:ext>
            </a:extLst>
          </p:cNvPr>
          <p:cNvSpPr txBox="1"/>
          <p:nvPr/>
        </p:nvSpPr>
        <p:spPr>
          <a:xfrm>
            <a:off x="10051344" y="1745809"/>
            <a:ext cx="299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A6B046-1957-A41A-7F73-D1C05C7C5801}"/>
              </a:ext>
            </a:extLst>
          </p:cNvPr>
          <p:cNvSpPr txBox="1"/>
          <p:nvPr/>
        </p:nvSpPr>
        <p:spPr>
          <a:xfrm>
            <a:off x="10051344" y="2387299"/>
            <a:ext cx="299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D50D72-C505-FB00-B9E7-01972FCA29FA}"/>
              </a:ext>
            </a:extLst>
          </p:cNvPr>
          <p:cNvSpPr txBox="1"/>
          <p:nvPr/>
        </p:nvSpPr>
        <p:spPr>
          <a:xfrm>
            <a:off x="7422270" y="1761463"/>
            <a:ext cx="263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r>
              <a:rPr lang="en-US" i="1" dirty="0"/>
              <a:t>r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A53DA4A-6077-091A-FF95-C66F7D99094A}"/>
              </a:ext>
            </a:extLst>
          </p:cNvPr>
          <p:cNvCxnSpPr>
            <a:cxnSpLocks/>
          </p:cNvCxnSpPr>
          <p:nvPr/>
        </p:nvCxnSpPr>
        <p:spPr>
          <a:xfrm flipV="1">
            <a:off x="7752063" y="1474962"/>
            <a:ext cx="758914" cy="4446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2F162C4-0922-41FF-DD06-92A0C9CDE6A0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740873" y="2056461"/>
            <a:ext cx="891639" cy="4569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4830AD9-62F8-BB4F-F12B-9FDD1CE05C53}"/>
              </a:ext>
            </a:extLst>
          </p:cNvPr>
          <p:cNvCxnSpPr>
            <a:cxnSpLocks/>
          </p:cNvCxnSpPr>
          <p:nvPr/>
        </p:nvCxnSpPr>
        <p:spPr>
          <a:xfrm>
            <a:off x="8995081" y="1953696"/>
            <a:ext cx="1030969" cy="67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0426214-8F42-E5C8-FF6B-AF9BE4044B8E}"/>
              </a:ext>
            </a:extLst>
          </p:cNvPr>
          <p:cNvCxnSpPr>
            <a:cxnSpLocks/>
          </p:cNvCxnSpPr>
          <p:nvPr/>
        </p:nvCxnSpPr>
        <p:spPr>
          <a:xfrm flipV="1">
            <a:off x="9064671" y="1847512"/>
            <a:ext cx="932625" cy="280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4F3161E-540F-8F6F-DB54-A7A6D3847959}"/>
              </a:ext>
            </a:extLst>
          </p:cNvPr>
          <p:cNvCxnSpPr>
            <a:cxnSpLocks/>
          </p:cNvCxnSpPr>
          <p:nvPr/>
        </p:nvCxnSpPr>
        <p:spPr>
          <a:xfrm>
            <a:off x="8938405" y="2549911"/>
            <a:ext cx="953198" cy="755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60911E3-00A4-FBB2-4D8C-1FED70182965}"/>
              </a:ext>
            </a:extLst>
          </p:cNvPr>
          <p:cNvCxnSpPr>
            <a:cxnSpLocks/>
          </p:cNvCxnSpPr>
          <p:nvPr/>
        </p:nvCxnSpPr>
        <p:spPr>
          <a:xfrm flipV="1">
            <a:off x="8960251" y="2057747"/>
            <a:ext cx="994150" cy="4240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88" name="Oval Callout 87">
            <a:extLst>
              <a:ext uri="{FF2B5EF4-FFF2-40B4-BE49-F238E27FC236}">
                <a16:creationId xmlns:a16="http://schemas.microsoft.com/office/drawing/2014/main" id="{97623C4F-9FEE-D9D0-D2FC-82E678DB34CA}"/>
              </a:ext>
            </a:extLst>
          </p:cNvPr>
          <p:cNvSpPr/>
          <p:nvPr/>
        </p:nvSpPr>
        <p:spPr>
          <a:xfrm>
            <a:off x="6413385" y="228779"/>
            <a:ext cx="2538227" cy="747300"/>
          </a:xfrm>
          <a:prstGeom prst="wedgeEllipseCallout">
            <a:avLst>
              <a:gd name="adj1" fmla="val 21117"/>
              <a:gd name="adj2" fmla="val 175050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k Free" panose="03080402000500000000" pitchFamily="66" charset="0"/>
              </a:rPr>
              <a:t>quantity of item (b) needed</a:t>
            </a:r>
          </a:p>
        </p:txBody>
      </p:sp>
      <p:sp>
        <p:nvSpPr>
          <p:cNvPr id="89" name="Oval Callout 88">
            <a:extLst>
              <a:ext uri="{FF2B5EF4-FFF2-40B4-BE49-F238E27FC236}">
                <a16:creationId xmlns:a16="http://schemas.microsoft.com/office/drawing/2014/main" id="{032BDC9F-AD4A-FF5C-DE47-3CB24A4EBE4E}"/>
              </a:ext>
            </a:extLst>
          </p:cNvPr>
          <p:cNvSpPr/>
          <p:nvPr/>
        </p:nvSpPr>
        <p:spPr>
          <a:xfrm>
            <a:off x="7422270" y="3316377"/>
            <a:ext cx="1580622" cy="838519"/>
          </a:xfrm>
          <a:prstGeom prst="wedgeEllipseCallout">
            <a:avLst>
              <a:gd name="adj1" fmla="val 65579"/>
              <a:gd name="adj2" fmla="val -71487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k Free" panose="03080402000500000000" pitchFamily="66" charset="0"/>
              </a:rPr>
              <a:t>price of (c) in store (g)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EEC84BA-A396-94B2-6F29-C5F4EA466FDA}"/>
              </a:ext>
            </a:extLst>
          </p:cNvPr>
          <p:cNvSpPr txBox="1"/>
          <p:nvPr/>
        </p:nvSpPr>
        <p:spPr>
          <a:xfrm rot="19815816">
            <a:off x="7570000" y="1574424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324FFC9-A3A9-D463-3C06-28E88F5F4287}"/>
              </a:ext>
            </a:extLst>
          </p:cNvPr>
          <p:cNvSpPr txBox="1"/>
          <p:nvPr/>
        </p:nvSpPr>
        <p:spPr>
          <a:xfrm rot="1773497">
            <a:off x="7808798" y="2274146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936DA62-27B2-A664-1422-59F204412934}"/>
              </a:ext>
            </a:extLst>
          </p:cNvPr>
          <p:cNvCxnSpPr>
            <a:cxnSpLocks/>
          </p:cNvCxnSpPr>
          <p:nvPr/>
        </p:nvCxnSpPr>
        <p:spPr>
          <a:xfrm>
            <a:off x="5766424" y="9286"/>
            <a:ext cx="0" cy="459876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8A7C736-2D3F-DB11-FCD9-3D4ED8620C7A}"/>
              </a:ext>
            </a:extLst>
          </p:cNvPr>
          <p:cNvCxnSpPr>
            <a:cxnSpLocks/>
          </p:cNvCxnSpPr>
          <p:nvPr/>
        </p:nvCxnSpPr>
        <p:spPr>
          <a:xfrm flipH="1">
            <a:off x="670984" y="4608046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8ABFE1BA-1ACF-6FD7-2B19-63FDA92EE8E0}"/>
              </a:ext>
            </a:extLst>
          </p:cNvPr>
          <p:cNvCxnSpPr>
            <a:cxnSpLocks/>
          </p:cNvCxnSpPr>
          <p:nvPr/>
        </p:nvCxnSpPr>
        <p:spPr>
          <a:xfrm flipH="1">
            <a:off x="486832" y="6626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851452C-FE68-4E69-4F36-C0265C4188B7}"/>
              </a:ext>
            </a:extLst>
          </p:cNvPr>
          <p:cNvSpPr txBox="1"/>
          <p:nvPr/>
        </p:nvSpPr>
        <p:spPr>
          <a:xfrm>
            <a:off x="8598933" y="1705121"/>
            <a:ext cx="32660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b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82BA6D-5BD4-2B16-16D2-5BEA0E29FD9C}"/>
              </a:ext>
            </a:extLst>
          </p:cNvPr>
          <p:cNvCxnSpPr>
            <a:cxnSpLocks/>
          </p:cNvCxnSpPr>
          <p:nvPr/>
        </p:nvCxnSpPr>
        <p:spPr>
          <a:xfrm>
            <a:off x="7787363" y="1955506"/>
            <a:ext cx="741465" cy="92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3DA98AA-58F9-42CE-7BB4-A2993F202822}"/>
              </a:ext>
            </a:extLst>
          </p:cNvPr>
          <p:cNvSpPr txBox="1"/>
          <p:nvPr/>
        </p:nvSpPr>
        <p:spPr>
          <a:xfrm>
            <a:off x="7893208" y="1938774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FCABB2-89CD-D865-A18B-FCE128293A88}"/>
              </a:ext>
            </a:extLst>
          </p:cNvPr>
          <p:cNvSpPr txBox="1"/>
          <p:nvPr/>
        </p:nvSpPr>
        <p:spPr>
          <a:xfrm>
            <a:off x="10038716" y="3068799"/>
            <a:ext cx="324330" cy="36932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g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932F579-69A4-BD20-BC91-0435021E2DE0}"/>
              </a:ext>
            </a:extLst>
          </p:cNvPr>
          <p:cNvCxnSpPr>
            <a:cxnSpLocks/>
          </p:cNvCxnSpPr>
          <p:nvPr/>
        </p:nvCxnSpPr>
        <p:spPr>
          <a:xfrm>
            <a:off x="8959912" y="2609411"/>
            <a:ext cx="1030969" cy="67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127BAC4-65D3-7E33-1B40-FF25DE2732BA}"/>
              </a:ext>
            </a:extLst>
          </p:cNvPr>
          <p:cNvCxnSpPr>
            <a:cxnSpLocks/>
          </p:cNvCxnSpPr>
          <p:nvPr/>
        </p:nvCxnSpPr>
        <p:spPr>
          <a:xfrm>
            <a:off x="8972559" y="2116720"/>
            <a:ext cx="1007136" cy="982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DC91543-22BE-FFF3-6C9A-2A24B1FDB74A}"/>
              </a:ext>
            </a:extLst>
          </p:cNvPr>
          <p:cNvSpPr txBox="1"/>
          <p:nvPr/>
        </p:nvSpPr>
        <p:spPr>
          <a:xfrm rot="2041178">
            <a:off x="9095923" y="2953995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3.75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5E64DB-389E-2187-D1DD-0D06FA586671}"/>
              </a:ext>
            </a:extLst>
          </p:cNvPr>
          <p:cNvSpPr txBox="1"/>
          <p:nvPr/>
        </p:nvSpPr>
        <p:spPr>
          <a:xfrm rot="2652772">
            <a:off x="9508894" y="2687673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1.25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4A2B27-3FDB-299C-5D80-CBD3F8E06869}"/>
              </a:ext>
            </a:extLst>
          </p:cNvPr>
          <p:cNvSpPr txBox="1"/>
          <p:nvPr/>
        </p:nvSpPr>
        <p:spPr>
          <a:xfrm rot="1970635">
            <a:off x="9116103" y="1330342"/>
            <a:ext cx="8527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1.00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8D92587-E6CE-E301-E7A7-50CDE6BC3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242923"/>
              </p:ext>
            </p:extLst>
          </p:nvPr>
        </p:nvGraphicFramePr>
        <p:xfrm>
          <a:off x="369566" y="305515"/>
          <a:ext cx="515126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088">
                  <a:extLst>
                    <a:ext uri="{9D8B030D-6E8A-4147-A177-3AD203B41FA5}">
                      <a16:colId xmlns:a16="http://schemas.microsoft.com/office/drawing/2014/main" val="9969200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2363718372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1819051342"/>
                    </a:ext>
                  </a:extLst>
                </a:gridCol>
              </a:tblGrid>
              <a:tr h="318173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r: Raphael’s Shopping List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482171"/>
                  </a:ext>
                </a:extLst>
              </a:tr>
              <a:tr h="31817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(a) Apples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(b) Brown sugar (small bag)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(c) Choc chips (12 oz bag)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173763"/>
                  </a:ext>
                </a:extLst>
              </a:tr>
              <a:tr h="318173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9121122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11C87D1-B530-B969-526F-A77D5F142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651660"/>
              </p:ext>
            </p:extLst>
          </p:nvPr>
        </p:nvGraphicFramePr>
        <p:xfrm>
          <a:off x="382606" y="1914198"/>
          <a:ext cx="5151264" cy="24998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7816">
                  <a:extLst>
                    <a:ext uri="{9D8B030D-6E8A-4147-A177-3AD203B41FA5}">
                      <a16:colId xmlns:a16="http://schemas.microsoft.com/office/drawing/2014/main" val="4092026021"/>
                    </a:ext>
                  </a:extLst>
                </a:gridCol>
                <a:gridCol w="1287816">
                  <a:extLst>
                    <a:ext uri="{9D8B030D-6E8A-4147-A177-3AD203B41FA5}">
                      <a16:colId xmlns:a16="http://schemas.microsoft.com/office/drawing/2014/main" val="3995195705"/>
                    </a:ext>
                  </a:extLst>
                </a:gridCol>
                <a:gridCol w="1287816">
                  <a:extLst>
                    <a:ext uri="{9D8B030D-6E8A-4147-A177-3AD203B41FA5}">
                      <a16:colId xmlns:a16="http://schemas.microsoft.com/office/drawing/2014/main" val="2796921869"/>
                    </a:ext>
                  </a:extLst>
                </a:gridCol>
                <a:gridCol w="1287816">
                  <a:extLst>
                    <a:ext uri="{9D8B030D-6E8A-4147-A177-3AD203B41FA5}">
                      <a16:colId xmlns:a16="http://schemas.microsoft.com/office/drawing/2014/main" val="2340109040"/>
                    </a:ext>
                  </a:extLst>
                </a:gridCol>
              </a:tblGrid>
              <a:tr h="579591">
                <a:tc>
                  <a:txBody>
                    <a:bodyPr/>
                    <a:lstStyle/>
                    <a:p>
                      <a:pPr algn="ctr"/>
                      <a:r>
                        <a:rPr lang="en-US" i="0" dirty="0">
                          <a:solidFill>
                            <a:schemeClr val="tx1"/>
                          </a:solidFill>
                        </a:rPr>
                        <a:t>P: Prices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(e) East End </a:t>
                      </a:r>
                      <a:r>
                        <a:rPr lang="en-US" dirty="0" err="1"/>
                        <a:t>CoOp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(f) Food Lion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(g) Giant Eagle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701466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(a) Apples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7390408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(b) Brown sugar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63573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(c) Choc Chips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3.75</a:t>
                      </a:r>
                    </a:p>
                    <a:p>
                      <a:pPr algn="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278958"/>
                  </a:ext>
                </a:extLst>
              </a:tr>
            </a:tbl>
          </a:graphicData>
        </a:graphic>
      </p:graphicFrame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BF20185-E255-8F6F-7B7C-1D7609201166}"/>
              </a:ext>
            </a:extLst>
          </p:cNvPr>
          <p:cNvCxnSpPr>
            <a:cxnSpLocks/>
          </p:cNvCxnSpPr>
          <p:nvPr/>
        </p:nvCxnSpPr>
        <p:spPr>
          <a:xfrm>
            <a:off x="8976793" y="1301424"/>
            <a:ext cx="1030969" cy="67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3EA744D-51DD-D9E1-72B8-937F4A2491E2}"/>
              </a:ext>
            </a:extLst>
          </p:cNvPr>
          <p:cNvCxnSpPr>
            <a:cxnSpLocks/>
          </p:cNvCxnSpPr>
          <p:nvPr/>
        </p:nvCxnSpPr>
        <p:spPr>
          <a:xfrm>
            <a:off x="8954271" y="1464448"/>
            <a:ext cx="1007136" cy="982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49269E6-D810-9F5B-C21B-2E4838D5BAB4}"/>
              </a:ext>
            </a:extLst>
          </p:cNvPr>
          <p:cNvSpPr txBox="1"/>
          <p:nvPr/>
        </p:nvSpPr>
        <p:spPr>
          <a:xfrm rot="2374349">
            <a:off x="8858735" y="1530964"/>
            <a:ext cx="8527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0.80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824965-92BF-8B1B-87C0-E59EDBE0AB5A}"/>
              </a:ext>
            </a:extLst>
          </p:cNvPr>
          <p:cNvCxnSpPr>
            <a:cxnSpLocks/>
          </p:cNvCxnSpPr>
          <p:nvPr/>
        </p:nvCxnSpPr>
        <p:spPr>
          <a:xfrm>
            <a:off x="8973393" y="1604797"/>
            <a:ext cx="1161076" cy="13402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95661E3-0DA1-FB58-5688-A57EC41F6F75}"/>
              </a:ext>
            </a:extLst>
          </p:cNvPr>
          <p:cNvSpPr txBox="1"/>
          <p:nvPr/>
        </p:nvSpPr>
        <p:spPr>
          <a:xfrm>
            <a:off x="5898844" y="4761810"/>
            <a:ext cx="5938744" cy="12003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Right: The computation need to compute the total cost of all items at each store: multiply numbers (quantities and prices) as you follow edges in a path, and add up results when paths converge at a store node (e, f, or g).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2AED21-DF76-CB4B-15B2-951AB9A0EF2A}"/>
              </a:ext>
            </a:extLst>
          </p:cNvPr>
          <p:cNvSpPr txBox="1"/>
          <p:nvPr/>
        </p:nvSpPr>
        <p:spPr>
          <a:xfrm>
            <a:off x="670984" y="4814387"/>
            <a:ext cx="4697866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Left: A shopping list </a:t>
            </a:r>
            <a:r>
              <a:rPr lang="en-US" b="1" dirty="0">
                <a:latin typeface="Cambria Math" panose="02040503050406030204" pitchFamily="18" charset="0"/>
                <a:ea typeface="Cambria Math" panose="02040503050406030204" pitchFamily="18" charset="0"/>
              </a:rPr>
              <a:t>r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with needed quantities of three items (a, b, c), and per-unit prices of these items at three stores (e, f, g).</a:t>
            </a:r>
          </a:p>
        </p:txBody>
      </p:sp>
    </p:spTree>
    <p:extLst>
      <p:ext uri="{BB962C8B-B14F-4D97-AF65-F5344CB8AC3E}">
        <p14:creationId xmlns:p14="http://schemas.microsoft.com/office/powerpoint/2010/main" val="3099770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412</Words>
  <Application>Microsoft Macintosh PowerPoint</Application>
  <PresentationFormat>Widescreen</PresentationFormat>
  <Paragraphs>70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Ink Free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W Cohen</dc:creator>
  <cp:lastModifiedBy>William W Cohen</cp:lastModifiedBy>
  <cp:revision>39</cp:revision>
  <dcterms:created xsi:type="dcterms:W3CDTF">2025-11-23T21:56:45Z</dcterms:created>
  <dcterms:modified xsi:type="dcterms:W3CDTF">2025-11-29T20:39:20Z</dcterms:modified>
</cp:coreProperties>
</file>