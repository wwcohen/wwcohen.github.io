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53"/>
    <p:restoredTop sz="94631"/>
  </p:normalViewPr>
  <p:slideViewPr>
    <p:cSldViewPr snapToGrid="0">
      <p:cViewPr>
        <p:scale>
          <a:sx n="95" d="100"/>
          <a:sy n="95" d="100"/>
        </p:scale>
        <p:origin x="64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C7975-7758-2A45-89D3-3D92B788EE9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96BB1-5389-484D-8753-59F479745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1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FCE1-B757-A43E-F172-848C9DFA2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1E3C2-4E6D-AF72-B1D6-D0C5B5E44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48E53-EBEA-7A58-2741-20C98908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2CB40-7D0F-162E-3FC5-E53DDB17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24F8F-6FA9-4C63-7123-F324F65A3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2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D0C9-7FFF-21A1-FD8D-482C3F78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8AF38-88FF-F393-2E15-AD8429D8C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2CAF-F81E-4586-3E59-372EC239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21879-0706-9ADD-15C6-489A3162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238FC-D414-A5EA-3C31-1C638A7B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08A3-ABE7-3A8D-34E1-DA6C2BFF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0ED41-01AC-79AE-4855-323053728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A8EC7-20B3-1E84-9BCE-F00FBD3C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37785-8E7B-928D-0CD9-AA3160CB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058E7-EC4A-5594-F815-4F266225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3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6BDF-C0DA-A5C5-B780-9C9B6361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4A5F-2BCA-F90C-7B50-BE0A64E5C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62685-95CA-FFD8-536D-587A31AC9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895D9-B809-BC82-AF06-0A19D20A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27D69-86EC-B541-B890-28178923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9038-15B0-FEBC-69A4-FDB4DF5F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7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6949-7170-6E95-017D-3F6BD044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77A88-3BFA-2BBB-A3B0-74A56A19F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5E6C0-1D99-4D0A-08FB-5C3B9D493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3E972-5AE8-D46C-72FB-E77193148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A3EC5-85B1-DB15-D574-EB04B5ACC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164EC-A9B0-35B8-ADCD-88A0767D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241383-6FC3-8BEA-C20E-0ACA0F2A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1957AC-9AB1-FF5F-5012-8B6910DD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6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0FB7-C77C-ECC5-B177-38FDEF99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E3F6D-37F5-D922-77B0-E6F2A6DC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E3ACB-E704-960B-3768-971E3D59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43D62-C1A8-1192-917F-98527D2A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1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9B171-3DB9-BC62-9FBB-FAC3392DA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5AF0B6-F258-0E08-DD18-3E2C5D23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5BD89-9805-24FE-705B-3998D8FF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ABC2-EEF3-3ACE-6A8E-C58609F1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15EE9-1A4F-D07F-9689-DB60E26A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2802F-6E01-A442-17A3-9CD956EF9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72E01-29D0-D93E-6AD2-6CB35C95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F23B5-5365-70C0-C158-7E43DAE6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CEF37-BA99-ECBE-5D2B-19C8D89A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9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CA2B-CD66-1DEC-3153-BF82D72B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6C35A-5CEA-1658-5C3E-B5019385D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32CD9-C606-2429-4F11-27B40A11C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A7F95-55E4-B210-17FF-E80C4D21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1C1D3-6750-A282-6FF8-CC988212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E0DAC-8533-427D-83C1-9F9AC97C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1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C97B-18E7-AE6A-37D5-89CD2E56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E6BD5-833C-3179-013B-C28B6305B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DECCA-430E-A699-97AE-BFAD2ADF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1547-C448-5A2E-4035-7A0B6772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C588F-D8B1-61A9-5936-34525BA0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3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8495E2-DA79-549F-E7FE-79EBC0E58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9BFDA-8298-E3CB-4299-8BE419CE2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5988E-937C-347D-7B16-CCF75378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8A4A4-F674-5B1B-362E-24D50C1D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2372C-CD11-7DB0-3009-9FCC3DA8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B6444-340E-B434-5117-BCD43FC0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662E2-60D1-04E0-AF7F-C997FD2C4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4C788-A32A-F5CF-2714-98099D04E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02925-4665-5F46-8E77-D7976938C888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FEFFC-EC29-B4DE-92DF-C20E7F685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143A-4ABD-B609-505A-4CEF159B3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0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3F50B-A79C-905B-7F20-D7CA6C2E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9BE6C25C-C16E-45C6-A8E8-BA6195A5A518}"/>
              </a:ext>
            </a:extLst>
          </p:cNvPr>
          <p:cNvSpPr/>
          <p:nvPr/>
        </p:nvSpPr>
        <p:spPr>
          <a:xfrm>
            <a:off x="2759620" y="704277"/>
            <a:ext cx="324009" cy="27495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B192779-C53B-9F4C-47CF-17221D6199E8}"/>
              </a:ext>
            </a:extLst>
          </p:cNvPr>
          <p:cNvSpPr/>
          <p:nvPr/>
        </p:nvSpPr>
        <p:spPr>
          <a:xfrm>
            <a:off x="4684727" y="704277"/>
            <a:ext cx="324009" cy="27495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3C65449-2460-9B9D-29E2-49A9C916D5FC}"/>
              </a:ext>
            </a:extLst>
          </p:cNvPr>
          <p:cNvSpPr/>
          <p:nvPr/>
        </p:nvSpPr>
        <p:spPr>
          <a:xfrm>
            <a:off x="2417181" y="1431277"/>
            <a:ext cx="1027733" cy="274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AEEA9C3-0E04-77EF-CE9E-C01FF116BD6C}"/>
              </a:ext>
            </a:extLst>
          </p:cNvPr>
          <p:cNvSpPr/>
          <p:nvPr/>
        </p:nvSpPr>
        <p:spPr>
          <a:xfrm>
            <a:off x="2407020" y="2501290"/>
            <a:ext cx="929614" cy="29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Graphic 55" descr="Flashlight outline">
            <a:extLst>
              <a:ext uri="{FF2B5EF4-FFF2-40B4-BE49-F238E27FC236}">
                <a16:creationId xmlns:a16="http://schemas.microsoft.com/office/drawing/2014/main" id="{0A6F56D9-D34C-6F32-CAA0-6A8C7AF6E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544626" y="1799365"/>
            <a:ext cx="677562" cy="65754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EE44035-6989-59A9-BB98-D79F81C26738}"/>
              </a:ext>
            </a:extLst>
          </p:cNvPr>
          <p:cNvSpPr txBox="1"/>
          <p:nvPr/>
        </p:nvSpPr>
        <p:spPr>
          <a:xfrm>
            <a:off x="2800863" y="1399085"/>
            <a:ext cx="21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EE9DC8-45F1-8A43-AB26-932EC6084563}"/>
              </a:ext>
            </a:extLst>
          </p:cNvPr>
          <p:cNvSpPr txBox="1"/>
          <p:nvPr/>
        </p:nvSpPr>
        <p:spPr>
          <a:xfrm>
            <a:off x="2786711" y="2460987"/>
            <a:ext cx="26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A96744-42C3-A7AC-B300-B09B3D43CD44}"/>
              </a:ext>
            </a:extLst>
          </p:cNvPr>
          <p:cNvSpPr txBox="1"/>
          <p:nvPr/>
        </p:nvSpPr>
        <p:spPr>
          <a:xfrm>
            <a:off x="4999221" y="1176658"/>
            <a:ext cx="525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FCB132-A5BA-24AE-C4F8-FDC5524895D5}"/>
              </a:ext>
            </a:extLst>
          </p:cNvPr>
          <p:cNvSpPr txBox="1"/>
          <p:nvPr/>
        </p:nvSpPr>
        <p:spPr>
          <a:xfrm>
            <a:off x="5041611" y="2003032"/>
            <a:ext cx="48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E6EDA0-91EB-E4DF-9971-5713D6C2F2CD}"/>
              </a:ext>
            </a:extLst>
          </p:cNvPr>
          <p:cNvSpPr txBox="1"/>
          <p:nvPr/>
        </p:nvSpPr>
        <p:spPr>
          <a:xfrm>
            <a:off x="5054895" y="2896099"/>
            <a:ext cx="48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DE4C9F-C7FD-3E21-9FC4-EACA2F3CFD84}"/>
              </a:ext>
            </a:extLst>
          </p:cNvPr>
          <p:cNvSpPr txBox="1"/>
          <p:nvPr/>
        </p:nvSpPr>
        <p:spPr>
          <a:xfrm>
            <a:off x="563830" y="2187698"/>
            <a:ext cx="263077" cy="273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686DE-9B88-6812-CAE9-A5C571F836B9}"/>
              </a:ext>
            </a:extLst>
          </p:cNvPr>
          <p:cNvSpPr/>
          <p:nvPr/>
        </p:nvSpPr>
        <p:spPr>
          <a:xfrm>
            <a:off x="7183266" y="1116706"/>
            <a:ext cx="1029206" cy="392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51D3B7-D76E-9B75-82DC-10BE6230A282}"/>
              </a:ext>
            </a:extLst>
          </p:cNvPr>
          <p:cNvSpPr/>
          <p:nvPr/>
        </p:nvSpPr>
        <p:spPr>
          <a:xfrm>
            <a:off x="7183265" y="2108500"/>
            <a:ext cx="1029206" cy="392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74F926-AEB0-CB45-C34C-2A14A44ED625}"/>
              </a:ext>
            </a:extLst>
          </p:cNvPr>
          <p:cNvSpPr txBox="1"/>
          <p:nvPr/>
        </p:nvSpPr>
        <p:spPr>
          <a:xfrm>
            <a:off x="8593502" y="1167795"/>
            <a:ext cx="30988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A403C4-E1B6-7B27-49A0-0E470B9A6764}"/>
              </a:ext>
            </a:extLst>
          </p:cNvPr>
          <p:cNvSpPr txBox="1"/>
          <p:nvPr/>
        </p:nvSpPr>
        <p:spPr>
          <a:xfrm>
            <a:off x="8632512" y="2328757"/>
            <a:ext cx="263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CF1763-F1A9-D83F-4DCE-D1A16BDE7DE9}"/>
              </a:ext>
            </a:extLst>
          </p:cNvPr>
          <p:cNvSpPr txBox="1"/>
          <p:nvPr/>
        </p:nvSpPr>
        <p:spPr>
          <a:xfrm>
            <a:off x="10029190" y="957775"/>
            <a:ext cx="32660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5AA57E-229C-67C4-A44C-CF5FE988DE9E}"/>
              </a:ext>
            </a:extLst>
          </p:cNvPr>
          <p:cNvSpPr txBox="1"/>
          <p:nvPr/>
        </p:nvSpPr>
        <p:spPr>
          <a:xfrm>
            <a:off x="10051344" y="1745809"/>
            <a:ext cx="299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03BFF-D706-FEDF-6A3B-C4D1E4F94AF5}"/>
              </a:ext>
            </a:extLst>
          </p:cNvPr>
          <p:cNvSpPr txBox="1"/>
          <p:nvPr/>
        </p:nvSpPr>
        <p:spPr>
          <a:xfrm>
            <a:off x="10051344" y="2387299"/>
            <a:ext cx="299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CABE3E-E462-C660-0A67-7A34E2CACA42}"/>
              </a:ext>
            </a:extLst>
          </p:cNvPr>
          <p:cNvSpPr txBox="1"/>
          <p:nvPr/>
        </p:nvSpPr>
        <p:spPr>
          <a:xfrm>
            <a:off x="7422270" y="1761463"/>
            <a:ext cx="263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i="1" dirty="0"/>
              <a:t>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35FF4D0-04EA-A88D-118C-FC13BD02CBD3}"/>
              </a:ext>
            </a:extLst>
          </p:cNvPr>
          <p:cNvCxnSpPr>
            <a:cxnSpLocks/>
          </p:cNvCxnSpPr>
          <p:nvPr/>
        </p:nvCxnSpPr>
        <p:spPr>
          <a:xfrm flipV="1">
            <a:off x="7752063" y="1474962"/>
            <a:ext cx="758914" cy="4446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38E3A6F-790C-AAA2-6736-029FBB0C4FB1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740873" y="2056461"/>
            <a:ext cx="891639" cy="4569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A5AFAC7-6357-1F3F-0EC6-C396462D1EBE}"/>
              </a:ext>
            </a:extLst>
          </p:cNvPr>
          <p:cNvCxnSpPr>
            <a:cxnSpLocks/>
          </p:cNvCxnSpPr>
          <p:nvPr/>
        </p:nvCxnSpPr>
        <p:spPr>
          <a:xfrm flipV="1">
            <a:off x="9002892" y="1140398"/>
            <a:ext cx="951509" cy="630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1E7E9AA-77DE-82AE-8055-2E763603015F}"/>
              </a:ext>
            </a:extLst>
          </p:cNvPr>
          <p:cNvCxnSpPr>
            <a:cxnSpLocks/>
          </p:cNvCxnSpPr>
          <p:nvPr/>
        </p:nvCxnSpPr>
        <p:spPr>
          <a:xfrm>
            <a:off x="8995081" y="1953696"/>
            <a:ext cx="1030969" cy="674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D338E16-67F1-18E6-319A-95709A7178BF}"/>
              </a:ext>
            </a:extLst>
          </p:cNvPr>
          <p:cNvCxnSpPr>
            <a:cxnSpLocks/>
          </p:cNvCxnSpPr>
          <p:nvPr/>
        </p:nvCxnSpPr>
        <p:spPr>
          <a:xfrm flipV="1">
            <a:off x="9064671" y="1847512"/>
            <a:ext cx="932625" cy="28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C025BC0-2811-3273-CD49-75B0C8702EA2}"/>
              </a:ext>
            </a:extLst>
          </p:cNvPr>
          <p:cNvGrpSpPr/>
          <p:nvPr/>
        </p:nvGrpSpPr>
        <p:grpSpPr>
          <a:xfrm flipV="1">
            <a:off x="8938405" y="1293460"/>
            <a:ext cx="1057419" cy="1332008"/>
            <a:chOff x="10092565" y="1298663"/>
            <a:chExt cx="1072293" cy="1408480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0A4F5075-39D1-5065-2926-93366224F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2565" y="1298663"/>
              <a:ext cx="966606" cy="798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8D007CE-0C32-A1A9-8175-5A691FBC9662}"/>
                </a:ext>
              </a:extLst>
            </p:cNvPr>
            <p:cNvCxnSpPr>
              <a:cxnSpLocks/>
            </p:cNvCxnSpPr>
            <p:nvPr/>
          </p:nvCxnSpPr>
          <p:spPr>
            <a:xfrm>
              <a:off x="10105169" y="1530886"/>
              <a:ext cx="1059689" cy="117625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9643340-BDCC-E4B5-08CE-1AD9893BD711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718" y="1450551"/>
              <a:ext cx="1008134" cy="44842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88" name="Oval Callout 87">
            <a:extLst>
              <a:ext uri="{FF2B5EF4-FFF2-40B4-BE49-F238E27FC236}">
                <a16:creationId xmlns:a16="http://schemas.microsoft.com/office/drawing/2014/main" id="{61EA09CC-67E8-4B6E-EB59-FCB31330FAE8}"/>
              </a:ext>
            </a:extLst>
          </p:cNvPr>
          <p:cNvSpPr/>
          <p:nvPr/>
        </p:nvSpPr>
        <p:spPr>
          <a:xfrm>
            <a:off x="6091173" y="190594"/>
            <a:ext cx="3140765" cy="859514"/>
          </a:xfrm>
          <a:prstGeom prst="wedgeEllipseCallout">
            <a:avLst>
              <a:gd name="adj1" fmla="val 13060"/>
              <a:gd name="adj2" fmla="val 113053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probability of photon moving </a:t>
            </a:r>
            <a:r>
              <a:rPr lang="en-US" dirty="0" err="1">
                <a:latin typeface="Ink Free" panose="03080402000500000000" pitchFamily="66" charset="0"/>
              </a:rPr>
              <a:t>s</a:t>
            </a:r>
            <a:r>
              <a:rPr lang="en-US" dirty="0" err="1">
                <a:latin typeface="Ink Free" panose="03080402000500000000" pitchFamily="66" charset="0"/>
                <a:sym typeface="Wingdings" pitchFamily="2" charset="2"/>
              </a:rPr>
              <a:t>a</a:t>
            </a:r>
            <a:endParaRPr lang="en-US" dirty="0">
              <a:latin typeface="Ink Free" panose="03080402000500000000" pitchFamily="66" charset="0"/>
            </a:endParaRPr>
          </a:p>
        </p:txBody>
      </p:sp>
      <p:sp>
        <p:nvSpPr>
          <p:cNvPr id="89" name="Oval Callout 88">
            <a:extLst>
              <a:ext uri="{FF2B5EF4-FFF2-40B4-BE49-F238E27FC236}">
                <a16:creationId xmlns:a16="http://schemas.microsoft.com/office/drawing/2014/main" id="{2508F003-9B44-6E01-0B60-204FAA2E847C}"/>
              </a:ext>
            </a:extLst>
          </p:cNvPr>
          <p:cNvSpPr/>
          <p:nvPr/>
        </p:nvSpPr>
        <p:spPr>
          <a:xfrm>
            <a:off x="5883754" y="3316377"/>
            <a:ext cx="3119138" cy="859514"/>
          </a:xfrm>
          <a:prstGeom prst="wedgeEllipseCallout">
            <a:avLst>
              <a:gd name="adj1" fmla="val 60180"/>
              <a:gd name="adj2" fmla="val -67125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probability of photon moving </a:t>
            </a:r>
            <a:r>
              <a:rPr lang="en-US" dirty="0" err="1">
                <a:latin typeface="Ink Free" panose="03080402000500000000" pitchFamily="66" charset="0"/>
              </a:rPr>
              <a:t>c</a:t>
            </a:r>
            <a:r>
              <a:rPr lang="en-US" dirty="0" err="1">
                <a:latin typeface="Ink Free" panose="03080402000500000000" pitchFamily="66" charset="0"/>
                <a:sym typeface="Wingdings" pitchFamily="2" charset="2"/>
              </a:rPr>
              <a:t>g</a:t>
            </a:r>
            <a:endParaRPr lang="en-US" dirty="0">
              <a:latin typeface="Ink Free" panose="03080402000500000000" pitchFamily="66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9A0745-EEBB-17EB-C665-5A0C79318C67}"/>
              </a:ext>
            </a:extLst>
          </p:cNvPr>
          <p:cNvSpPr txBox="1"/>
          <p:nvPr/>
        </p:nvSpPr>
        <p:spPr>
          <a:xfrm rot="19815816">
            <a:off x="7570000" y="1574424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7389BA-258E-3F98-D8C2-C20048617EEE}"/>
              </a:ext>
            </a:extLst>
          </p:cNvPr>
          <p:cNvSpPr txBox="1"/>
          <p:nvPr/>
        </p:nvSpPr>
        <p:spPr>
          <a:xfrm rot="1773497">
            <a:off x="7808798" y="2274146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0.05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9B8DCF7-3DFB-6EFA-857C-50DEADD4C1CB}"/>
              </a:ext>
            </a:extLst>
          </p:cNvPr>
          <p:cNvCxnSpPr/>
          <p:nvPr/>
        </p:nvCxnSpPr>
        <p:spPr>
          <a:xfrm>
            <a:off x="5778616" y="0"/>
            <a:ext cx="0" cy="441297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4ADF552-6567-C53F-922E-6C6F09602580}"/>
              </a:ext>
            </a:extLst>
          </p:cNvPr>
          <p:cNvCxnSpPr>
            <a:cxnSpLocks/>
          </p:cNvCxnSpPr>
          <p:nvPr/>
        </p:nvCxnSpPr>
        <p:spPr>
          <a:xfrm flipH="1">
            <a:off x="695368" y="4412974"/>
            <a:ext cx="112183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5F12DD3-7E77-FCAF-4299-E6E80659F806}"/>
              </a:ext>
            </a:extLst>
          </p:cNvPr>
          <p:cNvCxnSpPr>
            <a:cxnSpLocks/>
          </p:cNvCxnSpPr>
          <p:nvPr/>
        </p:nvCxnSpPr>
        <p:spPr>
          <a:xfrm flipH="1">
            <a:off x="486832" y="6626"/>
            <a:ext cx="112183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FA1DC79E-6980-0FAB-BEC2-6E481F9FCB82}"/>
              </a:ext>
            </a:extLst>
          </p:cNvPr>
          <p:cNvSpPr txBox="1"/>
          <p:nvPr/>
        </p:nvSpPr>
        <p:spPr>
          <a:xfrm>
            <a:off x="467605" y="4548112"/>
            <a:ext cx="5028946" cy="14773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Left: The physical layout of a two slit experiment.  Photons from a light source (s) can go through slits (b or c) and then to one of three photon detectors (e, f, g).  Both (a) and (d) are opaque, non-reflective screens.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7673324-A47E-C767-3C62-BE72BC655C93}"/>
              </a:ext>
            </a:extLst>
          </p:cNvPr>
          <p:cNvSpPr txBox="1"/>
          <p:nvPr/>
        </p:nvSpPr>
        <p:spPr>
          <a:xfrm>
            <a:off x="5574875" y="4575405"/>
            <a:ext cx="6484603" cy="20718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Right: The paths that photons can take from the start (s) to the detectors (e, f, g), along with the probabilities of following each edge.  To find the probability of following a path like 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be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) multiply the probabilities of the  edges: in this case p(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sbe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) = p(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sb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)*p(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be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) = 0.05 * 0.02 = 0.001.  To find the total probability of a photon reaching (e), sum the weight of all the paths, so p(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se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) = 0.05 * 0.02 + 0.05 * 0.02 = 0.002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9294DAF0-64EE-EA30-4535-6641ADDC6AB5}"/>
              </a:ext>
            </a:extLst>
          </p:cNvPr>
          <p:cNvSpPr/>
          <p:nvPr/>
        </p:nvSpPr>
        <p:spPr>
          <a:xfrm rot="16200000">
            <a:off x="2857423" y="827777"/>
            <a:ext cx="2067039" cy="1417752"/>
          </a:xfrm>
          <a:prstGeom prst="triangle">
            <a:avLst/>
          </a:prstGeom>
          <a:solidFill>
            <a:srgbClr val="FFFF00">
              <a:alpha val="117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779731F1-937B-0A0E-92FE-403ADE6B0028}"/>
              </a:ext>
            </a:extLst>
          </p:cNvPr>
          <p:cNvSpPr/>
          <p:nvPr/>
        </p:nvSpPr>
        <p:spPr>
          <a:xfrm rot="16200000">
            <a:off x="2834636" y="2028452"/>
            <a:ext cx="2067039" cy="1417752"/>
          </a:xfrm>
          <a:prstGeom prst="triangle">
            <a:avLst/>
          </a:prstGeom>
          <a:solidFill>
            <a:srgbClr val="FFFF00">
              <a:alpha val="117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71E27C64-ED80-D94B-DE78-8419A18BE62E}"/>
              </a:ext>
            </a:extLst>
          </p:cNvPr>
          <p:cNvSpPr/>
          <p:nvPr/>
        </p:nvSpPr>
        <p:spPr>
          <a:xfrm rot="16200000">
            <a:off x="892717" y="1393572"/>
            <a:ext cx="2067039" cy="1417752"/>
          </a:xfrm>
          <a:prstGeom prst="triangle">
            <a:avLst/>
          </a:prstGeom>
          <a:solidFill>
            <a:srgbClr val="FFFF00">
              <a:alpha val="117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A6F7B-55DF-1B64-D64E-6FD7BBEC1EE2}"/>
              </a:ext>
            </a:extLst>
          </p:cNvPr>
          <p:cNvSpPr txBox="1"/>
          <p:nvPr/>
        </p:nvSpPr>
        <p:spPr>
          <a:xfrm>
            <a:off x="2769253" y="667005"/>
            <a:ext cx="251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E1627-FCAB-C459-DDE3-907832947069}"/>
              </a:ext>
            </a:extLst>
          </p:cNvPr>
          <p:cNvSpPr txBox="1"/>
          <p:nvPr/>
        </p:nvSpPr>
        <p:spPr>
          <a:xfrm>
            <a:off x="4670709" y="662635"/>
            <a:ext cx="251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D4240-0256-DC2B-3D21-6104A5C9EA07}"/>
              </a:ext>
            </a:extLst>
          </p:cNvPr>
          <p:cNvSpPr txBox="1"/>
          <p:nvPr/>
        </p:nvSpPr>
        <p:spPr>
          <a:xfrm>
            <a:off x="8598933" y="1705121"/>
            <a:ext cx="32660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3270E2-5B79-0BD9-83DB-AC27288B6879}"/>
              </a:ext>
            </a:extLst>
          </p:cNvPr>
          <p:cNvCxnSpPr>
            <a:cxnSpLocks/>
          </p:cNvCxnSpPr>
          <p:nvPr/>
        </p:nvCxnSpPr>
        <p:spPr>
          <a:xfrm>
            <a:off x="7787363" y="1955506"/>
            <a:ext cx="741465" cy="9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45AA17-6243-2B33-66FC-AB6BB931AAD8}"/>
              </a:ext>
            </a:extLst>
          </p:cNvPr>
          <p:cNvSpPr txBox="1"/>
          <p:nvPr/>
        </p:nvSpPr>
        <p:spPr>
          <a:xfrm>
            <a:off x="7893208" y="1938774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0.05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EE78A8-6C40-0273-F9BC-D7095741638F}"/>
              </a:ext>
            </a:extLst>
          </p:cNvPr>
          <p:cNvSpPr txBox="1"/>
          <p:nvPr/>
        </p:nvSpPr>
        <p:spPr>
          <a:xfrm>
            <a:off x="10038716" y="3068799"/>
            <a:ext cx="324330" cy="3693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275EB3-9710-C43C-D7CC-A8DE668C0FA4}"/>
              </a:ext>
            </a:extLst>
          </p:cNvPr>
          <p:cNvCxnSpPr>
            <a:cxnSpLocks/>
          </p:cNvCxnSpPr>
          <p:nvPr/>
        </p:nvCxnSpPr>
        <p:spPr>
          <a:xfrm>
            <a:off x="8959912" y="2609411"/>
            <a:ext cx="1030969" cy="674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810BD3-1563-8CE0-5D12-445A84077D3F}"/>
              </a:ext>
            </a:extLst>
          </p:cNvPr>
          <p:cNvCxnSpPr>
            <a:cxnSpLocks/>
          </p:cNvCxnSpPr>
          <p:nvPr/>
        </p:nvCxnSpPr>
        <p:spPr>
          <a:xfrm>
            <a:off x="8972559" y="2116720"/>
            <a:ext cx="1007136" cy="982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BF3ED4C-767B-6706-45D6-E02EF2E27A63}"/>
              </a:ext>
            </a:extLst>
          </p:cNvPr>
          <p:cNvSpPr txBox="1"/>
          <p:nvPr/>
        </p:nvSpPr>
        <p:spPr>
          <a:xfrm rot="2041178">
            <a:off x="9095923" y="2953995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2AAA5-0EF5-1CEF-05F1-D1E6CA901829}"/>
              </a:ext>
            </a:extLst>
          </p:cNvPr>
          <p:cNvSpPr txBox="1"/>
          <p:nvPr/>
        </p:nvSpPr>
        <p:spPr>
          <a:xfrm rot="19518364">
            <a:off x="8970697" y="1264622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0.94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46F930-F3B9-1B58-2050-D1DA8C79C2ED}"/>
              </a:ext>
            </a:extLst>
          </p:cNvPr>
          <p:cNvSpPr txBox="1"/>
          <p:nvPr/>
        </p:nvSpPr>
        <p:spPr>
          <a:xfrm rot="18989321">
            <a:off x="9217757" y="1453992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0.94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04C9AD-8867-CA96-93F8-78D489656FCF}"/>
              </a:ext>
            </a:extLst>
          </p:cNvPr>
          <p:cNvSpPr txBox="1"/>
          <p:nvPr/>
        </p:nvSpPr>
        <p:spPr>
          <a:xfrm rot="2652772">
            <a:off x="9508894" y="2687673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82FEA-E25A-568C-F7E6-F2EDE49729C1}"/>
              </a:ext>
            </a:extLst>
          </p:cNvPr>
          <p:cNvSpPr txBox="1"/>
          <p:nvPr/>
        </p:nvSpPr>
        <p:spPr>
          <a:xfrm>
            <a:off x="9295510" y="1806827"/>
            <a:ext cx="852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133C4D-3281-0FB5-52C2-94BAA83E2AA9}"/>
              </a:ext>
            </a:extLst>
          </p:cNvPr>
          <p:cNvSpPr txBox="1"/>
          <p:nvPr/>
        </p:nvSpPr>
        <p:spPr>
          <a:xfrm rot="20190385">
            <a:off x="9446362" y="2090517"/>
            <a:ext cx="852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0.02</a:t>
            </a:r>
          </a:p>
        </p:txBody>
      </p:sp>
      <p:pic>
        <p:nvPicPr>
          <p:cNvPr id="1026" name="Picture 2" descr="1,900+ Eyes Looking Side Stock Illustrations, Royalty-Free Vector Graphics  &amp; Clip Art - iStock | Woman eyes looking side">
            <a:extLst>
              <a:ext uri="{FF2B5EF4-FFF2-40B4-BE49-F238E27FC236}">
                <a16:creationId xmlns:a16="http://schemas.microsoft.com/office/drawing/2014/main" id="{83C4604F-2666-1812-4FF9-EEA60C87A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711" y="2896099"/>
            <a:ext cx="344852" cy="3406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pic>
        <p:nvPicPr>
          <p:cNvPr id="13" name="Picture 2" descr="1,900+ Eyes Looking Side Stock Illustrations, Royalty-Free Vector Graphics  &amp; Clip Art - iStock | Woman eyes looking side">
            <a:extLst>
              <a:ext uri="{FF2B5EF4-FFF2-40B4-BE49-F238E27FC236}">
                <a16:creationId xmlns:a16="http://schemas.microsoft.com/office/drawing/2014/main" id="{E283D604-6BA5-FF86-EF7F-D50EA0B30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711" y="1983236"/>
            <a:ext cx="344852" cy="3406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pic>
        <p:nvPicPr>
          <p:cNvPr id="15" name="Picture 2" descr="1,900+ Eyes Looking Side Stock Illustrations, Royalty-Free Vector Graphics  &amp; Clip Art - iStock | Woman eyes looking side">
            <a:extLst>
              <a:ext uri="{FF2B5EF4-FFF2-40B4-BE49-F238E27FC236}">
                <a16:creationId xmlns:a16="http://schemas.microsoft.com/office/drawing/2014/main" id="{4D5A1C9B-A1A1-C289-3C1A-D730A78CF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711" y="1194315"/>
            <a:ext cx="344852" cy="3406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3446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7045-728C-7939-8588-DA835F28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A7CA8D-C1B1-6332-B8F3-E9B99DF2C11B}"/>
              </a:ext>
            </a:extLst>
          </p:cNvPr>
          <p:cNvSpPr/>
          <p:nvPr/>
        </p:nvSpPr>
        <p:spPr>
          <a:xfrm>
            <a:off x="6454396" y="1116706"/>
            <a:ext cx="1029206" cy="392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41F58-4B1B-7B26-BEC2-07D13692F9FE}"/>
              </a:ext>
            </a:extLst>
          </p:cNvPr>
          <p:cNvSpPr/>
          <p:nvPr/>
        </p:nvSpPr>
        <p:spPr>
          <a:xfrm>
            <a:off x="6454395" y="2108500"/>
            <a:ext cx="1029206" cy="392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38490C-2F3D-AE89-FCB2-419BFB8035EE}"/>
              </a:ext>
            </a:extLst>
          </p:cNvPr>
          <p:cNvSpPr txBox="1"/>
          <p:nvPr/>
        </p:nvSpPr>
        <p:spPr>
          <a:xfrm>
            <a:off x="7864632" y="1167795"/>
            <a:ext cx="30988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EE8DA3-03DC-0AE8-925E-A0A6A49C16E2}"/>
              </a:ext>
            </a:extLst>
          </p:cNvPr>
          <p:cNvSpPr txBox="1"/>
          <p:nvPr/>
        </p:nvSpPr>
        <p:spPr>
          <a:xfrm>
            <a:off x="7903642" y="2328757"/>
            <a:ext cx="263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8437F9-A5A5-12B3-A4A7-7F50759F8B8E}"/>
              </a:ext>
            </a:extLst>
          </p:cNvPr>
          <p:cNvSpPr txBox="1"/>
          <p:nvPr/>
        </p:nvSpPr>
        <p:spPr>
          <a:xfrm>
            <a:off x="9322474" y="1745809"/>
            <a:ext cx="299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D50D72-C505-FB00-B9E7-01972FCA29FA}"/>
              </a:ext>
            </a:extLst>
          </p:cNvPr>
          <p:cNvSpPr txBox="1"/>
          <p:nvPr/>
        </p:nvSpPr>
        <p:spPr>
          <a:xfrm>
            <a:off x="6693400" y="1761463"/>
            <a:ext cx="263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i="1" dirty="0"/>
              <a:t>r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53DA4A-6077-091A-FF95-C66F7D99094A}"/>
              </a:ext>
            </a:extLst>
          </p:cNvPr>
          <p:cNvCxnSpPr>
            <a:cxnSpLocks/>
          </p:cNvCxnSpPr>
          <p:nvPr/>
        </p:nvCxnSpPr>
        <p:spPr>
          <a:xfrm flipV="1">
            <a:off x="7023193" y="1474962"/>
            <a:ext cx="758914" cy="4446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2F162C4-0922-41FF-DD06-92A0C9CDE6A0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012003" y="2056461"/>
            <a:ext cx="891639" cy="4569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0426214-8F42-E5C8-FF6B-AF9BE4044B8E}"/>
              </a:ext>
            </a:extLst>
          </p:cNvPr>
          <p:cNvCxnSpPr>
            <a:cxnSpLocks/>
          </p:cNvCxnSpPr>
          <p:nvPr/>
        </p:nvCxnSpPr>
        <p:spPr>
          <a:xfrm>
            <a:off x="8328709" y="1379407"/>
            <a:ext cx="864112" cy="428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4F3161E-540F-8F6F-DB54-A7A6D3847959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239141" y="1927001"/>
            <a:ext cx="1083333" cy="34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8" name="Oval Callout 87">
            <a:extLst>
              <a:ext uri="{FF2B5EF4-FFF2-40B4-BE49-F238E27FC236}">
                <a16:creationId xmlns:a16="http://schemas.microsoft.com/office/drawing/2014/main" id="{97623C4F-9FEE-D9D0-D2FC-82E678DB34CA}"/>
              </a:ext>
            </a:extLst>
          </p:cNvPr>
          <p:cNvSpPr/>
          <p:nvPr/>
        </p:nvSpPr>
        <p:spPr>
          <a:xfrm>
            <a:off x="5740373" y="333328"/>
            <a:ext cx="2538227" cy="747300"/>
          </a:xfrm>
          <a:prstGeom prst="wedgeEllipseCallout">
            <a:avLst>
              <a:gd name="adj1" fmla="val 7542"/>
              <a:gd name="adj2" fmla="val 112983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quantity needed</a:t>
            </a:r>
          </a:p>
        </p:txBody>
      </p:sp>
      <p:sp>
        <p:nvSpPr>
          <p:cNvPr id="89" name="Oval Callout 88">
            <a:extLst>
              <a:ext uri="{FF2B5EF4-FFF2-40B4-BE49-F238E27FC236}">
                <a16:creationId xmlns:a16="http://schemas.microsoft.com/office/drawing/2014/main" id="{032BDC9F-AD4A-FF5C-DE47-3CB24A4EBE4E}"/>
              </a:ext>
            </a:extLst>
          </p:cNvPr>
          <p:cNvSpPr/>
          <p:nvPr/>
        </p:nvSpPr>
        <p:spPr>
          <a:xfrm>
            <a:off x="7764105" y="3606484"/>
            <a:ext cx="1545741" cy="508066"/>
          </a:xfrm>
          <a:prstGeom prst="wedgeEllipseCallout">
            <a:avLst>
              <a:gd name="adj1" fmla="val 10710"/>
              <a:gd name="adj2" fmla="val -243639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price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EEC84BA-A396-94B2-6F29-C5F4EA466FDA}"/>
              </a:ext>
            </a:extLst>
          </p:cNvPr>
          <p:cNvSpPr txBox="1"/>
          <p:nvPr/>
        </p:nvSpPr>
        <p:spPr>
          <a:xfrm rot="19815816">
            <a:off x="6841130" y="1574424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24FFC9-A3A9-D463-3C06-28E88F5F4287}"/>
              </a:ext>
            </a:extLst>
          </p:cNvPr>
          <p:cNvSpPr txBox="1"/>
          <p:nvPr/>
        </p:nvSpPr>
        <p:spPr>
          <a:xfrm rot="1773497">
            <a:off x="7079928" y="2274146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1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8A7C736-2D3F-DB11-FCD9-3D4ED8620C7A}"/>
              </a:ext>
            </a:extLst>
          </p:cNvPr>
          <p:cNvCxnSpPr>
            <a:cxnSpLocks/>
          </p:cNvCxnSpPr>
          <p:nvPr/>
        </p:nvCxnSpPr>
        <p:spPr>
          <a:xfrm flipH="1">
            <a:off x="670984" y="4608046"/>
            <a:ext cx="112183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ABFE1BA-1ACF-6FD7-2B19-63FDA92EE8E0}"/>
              </a:ext>
            </a:extLst>
          </p:cNvPr>
          <p:cNvCxnSpPr>
            <a:cxnSpLocks/>
          </p:cNvCxnSpPr>
          <p:nvPr/>
        </p:nvCxnSpPr>
        <p:spPr>
          <a:xfrm flipH="1">
            <a:off x="486832" y="6626"/>
            <a:ext cx="112183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51452C-FE68-4E69-4F36-C0265C4188B7}"/>
              </a:ext>
            </a:extLst>
          </p:cNvPr>
          <p:cNvSpPr txBox="1"/>
          <p:nvPr/>
        </p:nvSpPr>
        <p:spPr>
          <a:xfrm>
            <a:off x="7870063" y="1705121"/>
            <a:ext cx="32660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82BA6D-5BD4-2B16-16D2-5BEA0E29FD9C}"/>
              </a:ext>
            </a:extLst>
          </p:cNvPr>
          <p:cNvCxnSpPr>
            <a:cxnSpLocks/>
          </p:cNvCxnSpPr>
          <p:nvPr/>
        </p:nvCxnSpPr>
        <p:spPr>
          <a:xfrm>
            <a:off x="7058493" y="1955506"/>
            <a:ext cx="741465" cy="9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3DA98AA-58F9-42CE-7BB4-A2993F202822}"/>
              </a:ext>
            </a:extLst>
          </p:cNvPr>
          <p:cNvSpPr txBox="1"/>
          <p:nvPr/>
        </p:nvSpPr>
        <p:spPr>
          <a:xfrm>
            <a:off x="7164338" y="1938774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32F579-69A4-BD20-BC91-0435021E2DE0}"/>
              </a:ext>
            </a:extLst>
          </p:cNvPr>
          <p:cNvCxnSpPr>
            <a:cxnSpLocks/>
          </p:cNvCxnSpPr>
          <p:nvPr/>
        </p:nvCxnSpPr>
        <p:spPr>
          <a:xfrm flipV="1">
            <a:off x="8231042" y="2056461"/>
            <a:ext cx="961779" cy="5529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DC91543-22BE-FFF3-6C9A-2A24B1FDB74A}"/>
              </a:ext>
            </a:extLst>
          </p:cNvPr>
          <p:cNvSpPr txBox="1"/>
          <p:nvPr/>
        </p:nvSpPr>
        <p:spPr>
          <a:xfrm rot="19645668">
            <a:off x="8416208" y="2346980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3.75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5E64DB-389E-2187-D1DD-0D06FA586671}"/>
              </a:ext>
            </a:extLst>
          </p:cNvPr>
          <p:cNvSpPr txBox="1"/>
          <p:nvPr/>
        </p:nvSpPr>
        <p:spPr>
          <a:xfrm rot="172216">
            <a:off x="8355040" y="1889188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1.25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A2B27-3FDB-299C-5D80-CBD3F8E06869}"/>
              </a:ext>
            </a:extLst>
          </p:cNvPr>
          <p:cNvSpPr txBox="1"/>
          <p:nvPr/>
        </p:nvSpPr>
        <p:spPr>
          <a:xfrm rot="1622632">
            <a:off x="8507380" y="1411087"/>
            <a:ext cx="852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1.20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8D92587-E6CE-E301-E7A7-50CDE6BC3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757994"/>
              </p:ext>
            </p:extLst>
          </p:nvPr>
        </p:nvGraphicFramePr>
        <p:xfrm>
          <a:off x="369566" y="305515"/>
          <a:ext cx="515126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088">
                  <a:extLst>
                    <a:ext uri="{9D8B030D-6E8A-4147-A177-3AD203B41FA5}">
                      <a16:colId xmlns:a16="http://schemas.microsoft.com/office/drawing/2014/main" val="9969200"/>
                    </a:ext>
                  </a:extLst>
                </a:gridCol>
                <a:gridCol w="1717088">
                  <a:extLst>
                    <a:ext uri="{9D8B030D-6E8A-4147-A177-3AD203B41FA5}">
                      <a16:colId xmlns:a16="http://schemas.microsoft.com/office/drawing/2014/main" val="2363718372"/>
                    </a:ext>
                  </a:extLst>
                </a:gridCol>
                <a:gridCol w="1717088">
                  <a:extLst>
                    <a:ext uri="{9D8B030D-6E8A-4147-A177-3AD203B41FA5}">
                      <a16:colId xmlns:a16="http://schemas.microsoft.com/office/drawing/2014/main" val="1819051342"/>
                    </a:ext>
                  </a:extLst>
                </a:gridCol>
              </a:tblGrid>
              <a:tr h="318173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r: Raphael’s Shopping List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82171"/>
                  </a:ext>
                </a:extLst>
              </a:tr>
              <a:tr h="3181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(a) 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(b) Brown sugar (small bag)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(c) Choc chips (12 oz bag)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173763"/>
                  </a:ext>
                </a:extLst>
              </a:tr>
              <a:tr h="318173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12112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11C87D1-B530-B969-526F-A77D5F142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15385"/>
              </p:ext>
            </p:extLst>
          </p:nvPr>
        </p:nvGraphicFramePr>
        <p:xfrm>
          <a:off x="995990" y="2143160"/>
          <a:ext cx="4142604" cy="1712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02">
                  <a:extLst>
                    <a:ext uri="{9D8B030D-6E8A-4147-A177-3AD203B41FA5}">
                      <a16:colId xmlns:a16="http://schemas.microsoft.com/office/drawing/2014/main" val="4092026021"/>
                    </a:ext>
                  </a:extLst>
                </a:gridCol>
                <a:gridCol w="2071302">
                  <a:extLst>
                    <a:ext uri="{9D8B030D-6E8A-4147-A177-3AD203B41FA5}">
                      <a16:colId xmlns:a16="http://schemas.microsoft.com/office/drawing/2014/main" val="234010904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chemeClr val="tx1"/>
                          </a:solidFill>
                        </a:rPr>
                        <a:t>g: Price at Giant Eagle</a:t>
                      </a:r>
                      <a:endParaRPr lang="en-US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701466"/>
                  </a:ext>
                </a:extLst>
              </a:tr>
              <a:tr h="417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(a) Apples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$1.20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390408"/>
                  </a:ext>
                </a:extLst>
              </a:tr>
              <a:tr h="417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(b) Brown sugar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$1.25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3573"/>
                  </a:ext>
                </a:extLst>
              </a:tr>
              <a:tr h="5121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(c) Choc Chips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$3.75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7895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95661E3-0DA1-FB58-5688-A57EC41F6F75}"/>
              </a:ext>
            </a:extLst>
          </p:cNvPr>
          <p:cNvSpPr txBox="1"/>
          <p:nvPr/>
        </p:nvSpPr>
        <p:spPr>
          <a:xfrm>
            <a:off x="5965160" y="4906904"/>
            <a:ext cx="5860858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Right:  How to compute the total cost of all items: multiply numbers on the edges of a path (e.g.,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be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itchFamily="2" charset="2"/>
              </a:rPr>
              <a:t> = 1*1.25)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then add up the results for every path that reaches (g)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AED21-DF76-CB4B-15B2-951AB9A0EF2A}"/>
              </a:ext>
            </a:extLst>
          </p:cNvPr>
          <p:cNvSpPr txBox="1"/>
          <p:nvPr/>
        </p:nvSpPr>
        <p:spPr>
          <a:xfrm>
            <a:off x="670984" y="4814387"/>
            <a:ext cx="4697866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Left: A shopping list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with needed quantities of three items (a, b, c), and per-unit prices of these items a store (e).</a:t>
            </a:r>
          </a:p>
        </p:txBody>
      </p:sp>
      <p:sp>
        <p:nvSpPr>
          <p:cNvPr id="43" name="Oval Callout 42">
            <a:extLst>
              <a:ext uri="{FF2B5EF4-FFF2-40B4-BE49-F238E27FC236}">
                <a16:creationId xmlns:a16="http://schemas.microsoft.com/office/drawing/2014/main" id="{526DD8C6-82A6-FBEC-37B3-36E5B3B0DA2E}"/>
              </a:ext>
            </a:extLst>
          </p:cNvPr>
          <p:cNvSpPr/>
          <p:nvPr/>
        </p:nvSpPr>
        <p:spPr>
          <a:xfrm>
            <a:off x="8918713" y="144204"/>
            <a:ext cx="3241065" cy="1137640"/>
          </a:xfrm>
          <a:prstGeom prst="wedgeEllipseCallout">
            <a:avLst>
              <a:gd name="adj1" fmla="val -28767"/>
              <a:gd name="adj2" fmla="val 80953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i="1" baseline="-25000" dirty="0" err="1">
                <a:latin typeface="Ink Free" panose="03080402000500000000" pitchFamily="66" charset="0"/>
                <a:ea typeface="Cambria Math" panose="02040503050406030204" pitchFamily="18" charset="0"/>
              </a:rPr>
              <a:t>a</a:t>
            </a:r>
            <a:r>
              <a:rPr lang="en-US" sz="1600" i="1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 </a:t>
            </a:r>
            <a:r>
              <a:rPr lang="en-US" sz="1600" i="1" dirty="0">
                <a:latin typeface="Ink Free" panose="03080402000500000000" pitchFamily="66" charset="0"/>
                <a:ea typeface="Cambria Math" panose="02040503050406030204" pitchFamily="18" charset="0"/>
              </a:rPr>
              <a:t>p</a:t>
            </a:r>
            <a:r>
              <a:rPr lang="en-US" sz="1600" i="1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a</a:t>
            </a:r>
            <a:r>
              <a:rPr lang="en-US" sz="1600" i="1" dirty="0">
                <a:latin typeface="Ink Free" panose="03080402000500000000" pitchFamily="66" charset="0"/>
                <a:ea typeface="Cambria Math" panose="02040503050406030204" pitchFamily="18" charset="0"/>
              </a:rPr>
              <a:t>+ </a:t>
            </a:r>
            <a:r>
              <a:rPr lang="en-US" sz="1600" i="1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i="1" baseline="-25000" dirty="0" err="1">
                <a:latin typeface="Ink Free" panose="03080402000500000000" pitchFamily="66" charset="0"/>
                <a:ea typeface="Cambria Math" panose="02040503050406030204" pitchFamily="18" charset="0"/>
              </a:rPr>
              <a:t>b</a:t>
            </a:r>
            <a:r>
              <a:rPr lang="en-US" sz="1600" i="1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 </a:t>
            </a:r>
            <a:r>
              <a:rPr lang="en-US" sz="1600" i="1" dirty="0">
                <a:latin typeface="Ink Free" panose="03080402000500000000" pitchFamily="66" charset="0"/>
                <a:ea typeface="Cambria Math" panose="02040503050406030204" pitchFamily="18" charset="0"/>
              </a:rPr>
              <a:t>p</a:t>
            </a:r>
            <a:r>
              <a:rPr lang="en-US" sz="1600" i="1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b</a:t>
            </a:r>
            <a:r>
              <a:rPr lang="en-US" sz="1600" i="1" dirty="0">
                <a:latin typeface="Ink Free" panose="03080402000500000000" pitchFamily="66" charset="0"/>
                <a:ea typeface="Cambria Math" panose="02040503050406030204" pitchFamily="18" charset="0"/>
              </a:rPr>
              <a:t>+ </a:t>
            </a:r>
            <a:r>
              <a:rPr lang="en-US" sz="1600" i="1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i="1" baseline="-25000" dirty="0" err="1">
                <a:latin typeface="Ink Free" panose="03080402000500000000" pitchFamily="66" charset="0"/>
                <a:ea typeface="Cambria Math" panose="02040503050406030204" pitchFamily="18" charset="0"/>
              </a:rPr>
              <a:t>c</a:t>
            </a:r>
            <a:r>
              <a:rPr lang="en-US" sz="1600" i="1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 </a:t>
            </a:r>
            <a:r>
              <a:rPr lang="en-US" sz="1600" i="1" dirty="0">
                <a:latin typeface="Ink Free" panose="03080402000500000000" pitchFamily="66" charset="0"/>
                <a:ea typeface="Cambria Math" panose="02040503050406030204" pitchFamily="18" charset="0"/>
              </a:rPr>
              <a:t>p</a:t>
            </a:r>
            <a:r>
              <a:rPr lang="en-US" sz="1600" i="1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c </a:t>
            </a:r>
          </a:p>
          <a:p>
            <a:pPr algn="ctr"/>
            <a:endParaRPr lang="en-US" sz="1600" i="1" dirty="0">
              <a:latin typeface="Ink Free" panose="03080402000500000000" pitchFamily="66" charset="0"/>
              <a:ea typeface="Cambria Math" panose="02040503050406030204" pitchFamily="18" charset="0"/>
            </a:endParaRPr>
          </a:p>
          <a:p>
            <a:pPr algn="ctr"/>
            <a:r>
              <a:rPr lang="en-US" sz="1600" i="1" dirty="0">
                <a:latin typeface="Ink Free" panose="03080402000500000000" pitchFamily="66" charset="0"/>
                <a:ea typeface="Cambria Math" panose="02040503050406030204" pitchFamily="18" charset="0"/>
              </a:rPr>
              <a:t>= 2*1.25  + 2*3.75 </a:t>
            </a:r>
          </a:p>
          <a:p>
            <a:pPr algn="ctr"/>
            <a:r>
              <a:rPr lang="en-US" sz="1600" i="1" dirty="0">
                <a:latin typeface="Ink Free" panose="03080402000500000000" pitchFamily="66" charset="0"/>
                <a:ea typeface="Cambria Math" panose="02040503050406030204" pitchFamily="18" charset="0"/>
              </a:rPr>
              <a:t>= $10.00</a:t>
            </a:r>
            <a:endParaRPr lang="en-US" sz="1600" dirty="0"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770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3FB6D-123E-0F74-DF1A-D7CBC2A2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8661EE-3F0F-10E0-A927-00960F719D15}"/>
              </a:ext>
            </a:extLst>
          </p:cNvPr>
          <p:cNvSpPr/>
          <p:nvPr/>
        </p:nvSpPr>
        <p:spPr>
          <a:xfrm>
            <a:off x="7183266" y="1116706"/>
            <a:ext cx="1029206" cy="392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735EE5-D945-D84F-96E8-683D8D012433}"/>
              </a:ext>
            </a:extLst>
          </p:cNvPr>
          <p:cNvSpPr/>
          <p:nvPr/>
        </p:nvSpPr>
        <p:spPr>
          <a:xfrm>
            <a:off x="7183265" y="2108500"/>
            <a:ext cx="1029206" cy="392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C9172F-EB92-9FF9-2BC8-93CD306D9E3C}"/>
              </a:ext>
            </a:extLst>
          </p:cNvPr>
          <p:cNvSpPr txBox="1"/>
          <p:nvPr/>
        </p:nvSpPr>
        <p:spPr>
          <a:xfrm>
            <a:off x="8593502" y="1167795"/>
            <a:ext cx="30988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35E49-3B0A-F0F4-DAA5-6E8CE1693492}"/>
              </a:ext>
            </a:extLst>
          </p:cNvPr>
          <p:cNvSpPr txBox="1"/>
          <p:nvPr/>
        </p:nvSpPr>
        <p:spPr>
          <a:xfrm>
            <a:off x="8632512" y="2328757"/>
            <a:ext cx="263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EFC109-F33B-C406-EF4E-EBAD26F7B051}"/>
              </a:ext>
            </a:extLst>
          </p:cNvPr>
          <p:cNvSpPr txBox="1"/>
          <p:nvPr/>
        </p:nvSpPr>
        <p:spPr>
          <a:xfrm>
            <a:off x="10051344" y="1745809"/>
            <a:ext cx="299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F3E1C5-5EC5-70CA-73D5-5420CA05FA89}"/>
              </a:ext>
            </a:extLst>
          </p:cNvPr>
          <p:cNvSpPr txBox="1"/>
          <p:nvPr/>
        </p:nvSpPr>
        <p:spPr>
          <a:xfrm>
            <a:off x="10051344" y="2387299"/>
            <a:ext cx="299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A5E46B-4678-E4F9-A4EF-11D33A86129D}"/>
              </a:ext>
            </a:extLst>
          </p:cNvPr>
          <p:cNvSpPr txBox="1"/>
          <p:nvPr/>
        </p:nvSpPr>
        <p:spPr>
          <a:xfrm>
            <a:off x="7422270" y="1761463"/>
            <a:ext cx="26307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i="1" dirty="0"/>
              <a:t>r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673D796-E5C4-AEEF-83B5-7063A97DD074}"/>
              </a:ext>
            </a:extLst>
          </p:cNvPr>
          <p:cNvCxnSpPr>
            <a:cxnSpLocks/>
          </p:cNvCxnSpPr>
          <p:nvPr/>
        </p:nvCxnSpPr>
        <p:spPr>
          <a:xfrm flipV="1">
            <a:off x="7752063" y="1474962"/>
            <a:ext cx="758914" cy="4446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2E26222-E642-3628-8531-05C11E76441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740873" y="2056461"/>
            <a:ext cx="891639" cy="4569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2613A7A-E903-9D0B-E79F-5A284A5BFC90}"/>
              </a:ext>
            </a:extLst>
          </p:cNvPr>
          <p:cNvCxnSpPr>
            <a:cxnSpLocks/>
          </p:cNvCxnSpPr>
          <p:nvPr/>
        </p:nvCxnSpPr>
        <p:spPr>
          <a:xfrm>
            <a:off x="8995081" y="1953696"/>
            <a:ext cx="1030969" cy="674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0AFD96F-90FA-26D0-CB0A-3A15A610776B}"/>
              </a:ext>
            </a:extLst>
          </p:cNvPr>
          <p:cNvCxnSpPr>
            <a:cxnSpLocks/>
          </p:cNvCxnSpPr>
          <p:nvPr/>
        </p:nvCxnSpPr>
        <p:spPr>
          <a:xfrm flipV="1">
            <a:off x="9064671" y="1847512"/>
            <a:ext cx="932625" cy="28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0C71F05-E116-0E99-B06C-F1453F670FBA}"/>
              </a:ext>
            </a:extLst>
          </p:cNvPr>
          <p:cNvCxnSpPr>
            <a:cxnSpLocks/>
          </p:cNvCxnSpPr>
          <p:nvPr/>
        </p:nvCxnSpPr>
        <p:spPr>
          <a:xfrm>
            <a:off x="8938405" y="2549911"/>
            <a:ext cx="953198" cy="75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7D285DA-D68C-887B-F87C-726715C96518}"/>
              </a:ext>
            </a:extLst>
          </p:cNvPr>
          <p:cNvCxnSpPr>
            <a:cxnSpLocks/>
          </p:cNvCxnSpPr>
          <p:nvPr/>
        </p:nvCxnSpPr>
        <p:spPr>
          <a:xfrm flipV="1">
            <a:off x="8960251" y="2057747"/>
            <a:ext cx="994150" cy="424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7279D9C-D16D-0B75-CF08-BD3C80DB95F0}"/>
              </a:ext>
            </a:extLst>
          </p:cNvPr>
          <p:cNvSpPr txBox="1"/>
          <p:nvPr/>
        </p:nvSpPr>
        <p:spPr>
          <a:xfrm rot="19815816">
            <a:off x="7570000" y="1574424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EFA7D3F-1232-3D47-3F4B-367F9DA8E602}"/>
              </a:ext>
            </a:extLst>
          </p:cNvPr>
          <p:cNvSpPr txBox="1"/>
          <p:nvPr/>
        </p:nvSpPr>
        <p:spPr>
          <a:xfrm rot="1773497">
            <a:off x="7808798" y="2274146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1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2034618-B417-BD98-D4D4-A20BA3A3CA62}"/>
              </a:ext>
            </a:extLst>
          </p:cNvPr>
          <p:cNvCxnSpPr>
            <a:cxnSpLocks/>
          </p:cNvCxnSpPr>
          <p:nvPr/>
        </p:nvCxnSpPr>
        <p:spPr>
          <a:xfrm>
            <a:off x="5766424" y="9286"/>
            <a:ext cx="0" cy="459876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82D93AF-E7F9-182F-CD74-22351FDCE59A}"/>
              </a:ext>
            </a:extLst>
          </p:cNvPr>
          <p:cNvCxnSpPr>
            <a:cxnSpLocks/>
          </p:cNvCxnSpPr>
          <p:nvPr/>
        </p:nvCxnSpPr>
        <p:spPr>
          <a:xfrm flipH="1">
            <a:off x="670984" y="4608046"/>
            <a:ext cx="112183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A7F81C9-0BF9-DF65-D657-81712750110F}"/>
              </a:ext>
            </a:extLst>
          </p:cNvPr>
          <p:cNvCxnSpPr>
            <a:cxnSpLocks/>
          </p:cNvCxnSpPr>
          <p:nvPr/>
        </p:nvCxnSpPr>
        <p:spPr>
          <a:xfrm flipH="1">
            <a:off x="486832" y="6626"/>
            <a:ext cx="112183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8E174F-0E33-805B-9116-E41F5C72BCF3}"/>
              </a:ext>
            </a:extLst>
          </p:cNvPr>
          <p:cNvSpPr txBox="1"/>
          <p:nvPr/>
        </p:nvSpPr>
        <p:spPr>
          <a:xfrm>
            <a:off x="8598933" y="1705121"/>
            <a:ext cx="326607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45FB44-A4BF-ABF4-3141-765E2EEF32FD}"/>
              </a:ext>
            </a:extLst>
          </p:cNvPr>
          <p:cNvCxnSpPr>
            <a:cxnSpLocks/>
          </p:cNvCxnSpPr>
          <p:nvPr/>
        </p:nvCxnSpPr>
        <p:spPr>
          <a:xfrm>
            <a:off x="7787363" y="1955506"/>
            <a:ext cx="741465" cy="9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9DB9DC-E51E-4953-FAC7-02DA97356897}"/>
              </a:ext>
            </a:extLst>
          </p:cNvPr>
          <p:cNvSpPr txBox="1"/>
          <p:nvPr/>
        </p:nvSpPr>
        <p:spPr>
          <a:xfrm>
            <a:off x="7893208" y="1938774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CF8C7-9568-245A-5542-42A5FC378A9E}"/>
              </a:ext>
            </a:extLst>
          </p:cNvPr>
          <p:cNvSpPr txBox="1"/>
          <p:nvPr/>
        </p:nvSpPr>
        <p:spPr>
          <a:xfrm>
            <a:off x="10038716" y="3068799"/>
            <a:ext cx="324330" cy="3693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542924-F23E-68AC-6439-BE449C927211}"/>
              </a:ext>
            </a:extLst>
          </p:cNvPr>
          <p:cNvCxnSpPr>
            <a:cxnSpLocks/>
          </p:cNvCxnSpPr>
          <p:nvPr/>
        </p:nvCxnSpPr>
        <p:spPr>
          <a:xfrm>
            <a:off x="8959912" y="2609411"/>
            <a:ext cx="1030969" cy="674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3D3407-3F86-C61D-BCD2-0B9FF85269A1}"/>
              </a:ext>
            </a:extLst>
          </p:cNvPr>
          <p:cNvCxnSpPr>
            <a:cxnSpLocks/>
          </p:cNvCxnSpPr>
          <p:nvPr/>
        </p:nvCxnSpPr>
        <p:spPr>
          <a:xfrm>
            <a:off x="8972559" y="2116720"/>
            <a:ext cx="1007136" cy="982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96EC74-D072-3293-BCF6-B1902747F041}"/>
              </a:ext>
            </a:extLst>
          </p:cNvPr>
          <p:cNvSpPr txBox="1"/>
          <p:nvPr/>
        </p:nvSpPr>
        <p:spPr>
          <a:xfrm rot="2041178">
            <a:off x="9095923" y="2953995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3.75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9929C5-7092-A6B9-F003-AC7BC55B9A44}"/>
              </a:ext>
            </a:extLst>
          </p:cNvPr>
          <p:cNvSpPr txBox="1"/>
          <p:nvPr/>
        </p:nvSpPr>
        <p:spPr>
          <a:xfrm rot="2652772">
            <a:off x="9508894" y="2687673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1.25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B381F-EC3F-D66E-6921-3971E9067738}"/>
              </a:ext>
            </a:extLst>
          </p:cNvPr>
          <p:cNvSpPr txBox="1"/>
          <p:nvPr/>
        </p:nvSpPr>
        <p:spPr>
          <a:xfrm rot="1970635">
            <a:off x="8877127" y="1253396"/>
            <a:ext cx="852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1.00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BE9031B-8276-9761-1F85-2DD0F7C42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582924"/>
              </p:ext>
            </p:extLst>
          </p:nvPr>
        </p:nvGraphicFramePr>
        <p:xfrm>
          <a:off x="369566" y="305515"/>
          <a:ext cx="515126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088">
                  <a:extLst>
                    <a:ext uri="{9D8B030D-6E8A-4147-A177-3AD203B41FA5}">
                      <a16:colId xmlns:a16="http://schemas.microsoft.com/office/drawing/2014/main" val="9969200"/>
                    </a:ext>
                  </a:extLst>
                </a:gridCol>
                <a:gridCol w="1717088">
                  <a:extLst>
                    <a:ext uri="{9D8B030D-6E8A-4147-A177-3AD203B41FA5}">
                      <a16:colId xmlns:a16="http://schemas.microsoft.com/office/drawing/2014/main" val="2363718372"/>
                    </a:ext>
                  </a:extLst>
                </a:gridCol>
                <a:gridCol w="1717088">
                  <a:extLst>
                    <a:ext uri="{9D8B030D-6E8A-4147-A177-3AD203B41FA5}">
                      <a16:colId xmlns:a16="http://schemas.microsoft.com/office/drawing/2014/main" val="1819051342"/>
                    </a:ext>
                  </a:extLst>
                </a:gridCol>
              </a:tblGrid>
              <a:tr h="318173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r: Raphael’s Shopping List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82171"/>
                  </a:ext>
                </a:extLst>
              </a:tr>
              <a:tr h="3181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(a) 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(b) Brown sugar (small bag)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(c) Choc chips (12 oz bag)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173763"/>
                  </a:ext>
                </a:extLst>
              </a:tr>
              <a:tr h="318173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12112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278E5FD-FAD4-A92A-4BC3-64E920E6E65D}"/>
              </a:ext>
            </a:extLst>
          </p:cNvPr>
          <p:cNvGraphicFramePr>
            <a:graphicFrameLocks noGrp="1"/>
          </p:cNvGraphicFramePr>
          <p:nvPr/>
        </p:nvGraphicFramePr>
        <p:xfrm>
          <a:off x="382606" y="1914198"/>
          <a:ext cx="5151264" cy="2499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816">
                  <a:extLst>
                    <a:ext uri="{9D8B030D-6E8A-4147-A177-3AD203B41FA5}">
                      <a16:colId xmlns:a16="http://schemas.microsoft.com/office/drawing/2014/main" val="4092026021"/>
                    </a:ext>
                  </a:extLst>
                </a:gridCol>
                <a:gridCol w="1287816">
                  <a:extLst>
                    <a:ext uri="{9D8B030D-6E8A-4147-A177-3AD203B41FA5}">
                      <a16:colId xmlns:a16="http://schemas.microsoft.com/office/drawing/2014/main" val="3995195705"/>
                    </a:ext>
                  </a:extLst>
                </a:gridCol>
                <a:gridCol w="1287816">
                  <a:extLst>
                    <a:ext uri="{9D8B030D-6E8A-4147-A177-3AD203B41FA5}">
                      <a16:colId xmlns:a16="http://schemas.microsoft.com/office/drawing/2014/main" val="2796921869"/>
                    </a:ext>
                  </a:extLst>
                </a:gridCol>
                <a:gridCol w="1287816">
                  <a:extLst>
                    <a:ext uri="{9D8B030D-6E8A-4147-A177-3AD203B41FA5}">
                      <a16:colId xmlns:a16="http://schemas.microsoft.com/office/drawing/2014/main" val="2340109040"/>
                    </a:ext>
                  </a:extLst>
                </a:gridCol>
              </a:tblGrid>
              <a:tr h="579591"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chemeClr val="tx1"/>
                          </a:solidFill>
                        </a:rPr>
                        <a:t>P: Prices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(e) East End </a:t>
                      </a:r>
                      <a:r>
                        <a:rPr lang="en-US" dirty="0" err="1"/>
                        <a:t>CoOp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(f) Food 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(g) Giant Eagle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701466"/>
                  </a:ext>
                </a:extLst>
              </a:tr>
              <a:tr h="579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(a) Apples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390408"/>
                  </a:ext>
                </a:extLst>
              </a:tr>
              <a:tr h="579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(b) Brown sugar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3573"/>
                  </a:ext>
                </a:extLst>
              </a:tr>
              <a:tr h="579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(c) Choc Chips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3.75</a:t>
                      </a:r>
                    </a:p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78958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427DB1-3733-74E8-4322-874A759E6581}"/>
              </a:ext>
            </a:extLst>
          </p:cNvPr>
          <p:cNvCxnSpPr>
            <a:cxnSpLocks/>
          </p:cNvCxnSpPr>
          <p:nvPr/>
        </p:nvCxnSpPr>
        <p:spPr>
          <a:xfrm>
            <a:off x="8976793" y="1301424"/>
            <a:ext cx="1030969" cy="674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70D32EE-F366-D50F-1BAB-E98F5DC8BE92}"/>
              </a:ext>
            </a:extLst>
          </p:cNvPr>
          <p:cNvCxnSpPr>
            <a:cxnSpLocks/>
          </p:cNvCxnSpPr>
          <p:nvPr/>
        </p:nvCxnSpPr>
        <p:spPr>
          <a:xfrm>
            <a:off x="8954271" y="1464448"/>
            <a:ext cx="1007136" cy="982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78D565-B782-9CA8-0499-46C6CC479565}"/>
              </a:ext>
            </a:extLst>
          </p:cNvPr>
          <p:cNvSpPr txBox="1"/>
          <p:nvPr/>
        </p:nvSpPr>
        <p:spPr>
          <a:xfrm rot="2374349">
            <a:off x="8858735" y="1530964"/>
            <a:ext cx="852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nk Free" panose="03080402000500000000" pitchFamily="66" charset="0"/>
                <a:ea typeface="Cambria Math" panose="02040503050406030204" pitchFamily="18" charset="0"/>
              </a:rPr>
              <a:t>0.80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3EEB8F-B741-3A08-B943-0C6148BDB14A}"/>
              </a:ext>
            </a:extLst>
          </p:cNvPr>
          <p:cNvCxnSpPr>
            <a:cxnSpLocks/>
          </p:cNvCxnSpPr>
          <p:nvPr/>
        </p:nvCxnSpPr>
        <p:spPr>
          <a:xfrm>
            <a:off x="8973393" y="1604797"/>
            <a:ext cx="1161076" cy="13402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ED4E1C9-0B84-2629-2B5C-1083996BA394}"/>
              </a:ext>
            </a:extLst>
          </p:cNvPr>
          <p:cNvSpPr txBox="1"/>
          <p:nvPr/>
        </p:nvSpPr>
        <p:spPr>
          <a:xfrm>
            <a:off x="5898844" y="4761810"/>
            <a:ext cx="5938744" cy="12003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Right: The computation need to compute the total cost of all items at each store: multiply numbers (quantities and prices) as you follow edges in a path, and add up results when paths converge at a store node (e, f, or g).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A2F10-B480-DEC0-1DF3-F1F7EC3601BB}"/>
              </a:ext>
            </a:extLst>
          </p:cNvPr>
          <p:cNvSpPr txBox="1"/>
          <p:nvPr/>
        </p:nvSpPr>
        <p:spPr>
          <a:xfrm>
            <a:off x="670984" y="4814387"/>
            <a:ext cx="4697866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Left: A shopping list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with needed quantities of three items (a, b, c), and per-unit prices of these items at three stores (e, f, g).</a:t>
            </a:r>
          </a:p>
        </p:txBody>
      </p:sp>
      <p:sp>
        <p:nvSpPr>
          <p:cNvPr id="5" name="Oval Callout 4">
            <a:extLst>
              <a:ext uri="{FF2B5EF4-FFF2-40B4-BE49-F238E27FC236}">
                <a16:creationId xmlns:a16="http://schemas.microsoft.com/office/drawing/2014/main" id="{2A8C2D2B-33EB-1A54-2A7C-8C6B8E793CF1}"/>
              </a:ext>
            </a:extLst>
          </p:cNvPr>
          <p:cNvSpPr/>
          <p:nvPr/>
        </p:nvSpPr>
        <p:spPr>
          <a:xfrm>
            <a:off x="6044094" y="321520"/>
            <a:ext cx="1696779" cy="690767"/>
          </a:xfrm>
          <a:prstGeom prst="wedgeEllipseCallout">
            <a:avLst>
              <a:gd name="adj1" fmla="val 54429"/>
              <a:gd name="adj2" fmla="val 120367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quantity needed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C8CF1502-3C1B-75C7-3BA5-2AB696D076F3}"/>
              </a:ext>
            </a:extLst>
          </p:cNvPr>
          <p:cNvSpPr/>
          <p:nvPr/>
        </p:nvSpPr>
        <p:spPr>
          <a:xfrm>
            <a:off x="7814617" y="3499423"/>
            <a:ext cx="1887351" cy="508066"/>
          </a:xfrm>
          <a:prstGeom prst="wedgeEllipseCallout">
            <a:avLst>
              <a:gd name="adj1" fmla="val 35453"/>
              <a:gd name="adj2" fmla="val -102787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price at (g)</a:t>
            </a:r>
          </a:p>
        </p:txBody>
      </p:sp>
      <p:sp>
        <p:nvSpPr>
          <p:cNvPr id="9" name="Oval Callout 8">
            <a:extLst>
              <a:ext uri="{FF2B5EF4-FFF2-40B4-BE49-F238E27FC236}">
                <a16:creationId xmlns:a16="http://schemas.microsoft.com/office/drawing/2014/main" id="{AE519A2E-C2E7-2902-F341-0B7F3BDAC940}"/>
              </a:ext>
            </a:extLst>
          </p:cNvPr>
          <p:cNvSpPr/>
          <p:nvPr/>
        </p:nvSpPr>
        <p:spPr>
          <a:xfrm>
            <a:off x="9653773" y="334647"/>
            <a:ext cx="2538227" cy="987320"/>
          </a:xfrm>
          <a:prstGeom prst="wedgeEllipseCallout">
            <a:avLst>
              <a:gd name="adj1" fmla="val -26264"/>
              <a:gd name="adj2" fmla="val 82751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baseline="-25000" dirty="0" err="1">
                <a:latin typeface="Ink Free" panose="03080402000500000000" pitchFamily="66" charset="0"/>
                <a:ea typeface="Cambria Math" panose="02040503050406030204" pitchFamily="18" charset="0"/>
              </a:rPr>
              <a:t>a</a:t>
            </a:r>
            <a:r>
              <a:rPr lang="en-US" sz="1600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 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p</a:t>
            </a:r>
            <a:r>
              <a:rPr lang="en-US" sz="1600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a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+ </a:t>
            </a:r>
            <a:r>
              <a:rPr lang="en-US" sz="1600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baseline="-25000" dirty="0" err="1">
                <a:latin typeface="Ink Free" panose="03080402000500000000" pitchFamily="66" charset="0"/>
                <a:ea typeface="Cambria Math" panose="02040503050406030204" pitchFamily="18" charset="0"/>
              </a:rPr>
              <a:t>b</a:t>
            </a:r>
            <a:r>
              <a:rPr lang="en-US" sz="1600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 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p</a:t>
            </a:r>
            <a:r>
              <a:rPr lang="en-US" sz="1600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b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+ </a:t>
            </a:r>
            <a:r>
              <a:rPr lang="en-US" sz="1600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baseline="-25000" dirty="0" err="1">
                <a:latin typeface="Ink Free" panose="03080402000500000000" pitchFamily="66" charset="0"/>
                <a:ea typeface="Cambria Math" panose="02040503050406030204" pitchFamily="18" charset="0"/>
              </a:rPr>
              <a:t>c</a:t>
            </a:r>
            <a:r>
              <a:rPr lang="en-US" sz="1600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 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p</a:t>
            </a:r>
            <a:r>
              <a:rPr lang="en-US" sz="1600" baseline="-25000" dirty="0">
                <a:latin typeface="Ink Free" panose="03080402000500000000" pitchFamily="66" charset="0"/>
                <a:ea typeface="Cambria Math" panose="02040503050406030204" pitchFamily="18" charset="0"/>
              </a:rPr>
              <a:t>c </a:t>
            </a:r>
          </a:p>
          <a:p>
            <a:pPr algn="ctr"/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= </a:t>
            </a:r>
            <a:r>
              <a:rPr lang="en-US" sz="1600" b="1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dirty="0" err="1">
                <a:latin typeface="Ink Free" panose="03080402000500000000" pitchFamily="66" charset="0"/>
                <a:ea typeface="Cambria Math" panose="02040503050406030204" pitchFamily="18" charset="0"/>
              </a:rPr>
              <a:t>.dot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(</a:t>
            </a:r>
            <a:r>
              <a:rPr lang="en-US" sz="1600" b="1" dirty="0">
                <a:latin typeface="Ink Free" panose="03080402000500000000" pitchFamily="66" charset="0"/>
                <a:ea typeface="Cambria Math" panose="02040503050406030204" pitchFamily="18" charset="0"/>
              </a:rPr>
              <a:t>g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)</a:t>
            </a:r>
            <a:endParaRPr lang="en-US" sz="1600" dirty="0">
              <a:latin typeface="Ink Free" panose="03080402000500000000" pitchFamily="66" charset="0"/>
            </a:endParaRP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9572EC9F-F2F4-3053-13F6-CE43E4C18003}"/>
              </a:ext>
            </a:extLst>
          </p:cNvPr>
          <p:cNvSpPr/>
          <p:nvPr/>
        </p:nvSpPr>
        <p:spPr>
          <a:xfrm>
            <a:off x="10497922" y="1906439"/>
            <a:ext cx="1571527" cy="609128"/>
          </a:xfrm>
          <a:prstGeom prst="wedgeEllipseCallout">
            <a:avLst>
              <a:gd name="adj1" fmla="val -55016"/>
              <a:gd name="adj2" fmla="val 47085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dirty="0" err="1">
                <a:latin typeface="Ink Free" panose="03080402000500000000" pitchFamily="66" charset="0"/>
                <a:ea typeface="Cambria Math" panose="02040503050406030204" pitchFamily="18" charset="0"/>
              </a:rPr>
              <a:t>.dot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(</a:t>
            </a:r>
            <a:r>
              <a:rPr lang="en-US" sz="1600" b="1" dirty="0">
                <a:latin typeface="Ink Free" panose="03080402000500000000" pitchFamily="66" charset="0"/>
                <a:ea typeface="Cambria Math" panose="02040503050406030204" pitchFamily="18" charset="0"/>
              </a:rPr>
              <a:t>f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)</a:t>
            </a:r>
            <a:endParaRPr lang="en-US" sz="1600" dirty="0">
              <a:latin typeface="Ink Free" panose="03080402000500000000" pitchFamily="66" charset="0"/>
            </a:endParaRPr>
          </a:p>
        </p:txBody>
      </p:sp>
      <p:sp>
        <p:nvSpPr>
          <p:cNvPr id="13" name="Oval Callout 12">
            <a:extLst>
              <a:ext uri="{FF2B5EF4-FFF2-40B4-BE49-F238E27FC236}">
                <a16:creationId xmlns:a16="http://schemas.microsoft.com/office/drawing/2014/main" id="{86CF639B-14D8-7BF6-384F-48954CA5C44C}"/>
              </a:ext>
            </a:extLst>
          </p:cNvPr>
          <p:cNvSpPr/>
          <p:nvPr/>
        </p:nvSpPr>
        <p:spPr>
          <a:xfrm>
            <a:off x="10598210" y="3133558"/>
            <a:ext cx="1571527" cy="609128"/>
          </a:xfrm>
          <a:prstGeom prst="wedgeEllipseCallout">
            <a:avLst>
              <a:gd name="adj1" fmla="val -57546"/>
              <a:gd name="adj2" fmla="val -26885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Ink Free" panose="03080402000500000000" pitchFamily="66" charset="0"/>
                <a:ea typeface="Cambria Math" panose="02040503050406030204" pitchFamily="18" charset="0"/>
              </a:rPr>
              <a:t>r</a:t>
            </a:r>
            <a:r>
              <a:rPr lang="en-US" sz="1600" dirty="0" err="1">
                <a:latin typeface="Ink Free" panose="03080402000500000000" pitchFamily="66" charset="0"/>
                <a:ea typeface="Cambria Math" panose="02040503050406030204" pitchFamily="18" charset="0"/>
              </a:rPr>
              <a:t>.dot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(</a:t>
            </a:r>
            <a:r>
              <a:rPr lang="en-US" sz="1600" b="1" dirty="0">
                <a:latin typeface="Ink Free" panose="03080402000500000000" pitchFamily="66" charset="0"/>
                <a:ea typeface="Cambria Math" panose="02040503050406030204" pitchFamily="18" charset="0"/>
              </a:rPr>
              <a:t>g</a:t>
            </a:r>
            <a:r>
              <a:rPr lang="en-US" sz="1600" dirty="0">
                <a:latin typeface="Ink Free" panose="03080402000500000000" pitchFamily="66" charset="0"/>
                <a:ea typeface="Cambria Math" panose="02040503050406030204" pitchFamily="18" charset="0"/>
              </a:rPr>
              <a:t>)</a:t>
            </a:r>
            <a:endParaRPr lang="en-US" sz="1600" dirty="0">
              <a:latin typeface="Ink Free" panose="03080402000500000000" pitchFamily="66" charset="0"/>
            </a:endParaRPr>
          </a:p>
        </p:txBody>
      </p:sp>
      <p:sp>
        <p:nvSpPr>
          <p:cNvPr id="15" name="Oval Callout 14">
            <a:extLst>
              <a:ext uri="{FF2B5EF4-FFF2-40B4-BE49-F238E27FC236}">
                <a16:creationId xmlns:a16="http://schemas.microsoft.com/office/drawing/2014/main" id="{B5F0AF1D-3D60-138A-7DCE-52F4EA87AF34}"/>
              </a:ext>
            </a:extLst>
          </p:cNvPr>
          <p:cNvSpPr/>
          <p:nvPr/>
        </p:nvSpPr>
        <p:spPr>
          <a:xfrm>
            <a:off x="7837412" y="143248"/>
            <a:ext cx="1899392" cy="690767"/>
          </a:xfrm>
          <a:prstGeom prst="wedgeEllipseCallout">
            <a:avLst>
              <a:gd name="adj1" fmla="val 17325"/>
              <a:gd name="adj2" fmla="val 105019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k Free" panose="03080402000500000000" pitchFamily="66" charset="0"/>
              </a:rPr>
              <a:t>price at (e)</a:t>
            </a:r>
          </a:p>
        </p:txBody>
      </p:sp>
    </p:spTree>
    <p:extLst>
      <p:ext uri="{BB962C8B-B14F-4D97-AF65-F5344CB8AC3E}">
        <p14:creationId xmlns:p14="http://schemas.microsoft.com/office/powerpoint/2010/main" val="2722133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C6B2-E328-15B3-CE71-198D7F8A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6EDA322-9D27-4268-DC48-E8C45E536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69407"/>
              </p:ext>
            </p:extLst>
          </p:nvPr>
        </p:nvGraphicFramePr>
        <p:xfrm>
          <a:off x="384313" y="869630"/>
          <a:ext cx="558087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218">
                  <a:extLst>
                    <a:ext uri="{9D8B030D-6E8A-4147-A177-3AD203B41FA5}">
                      <a16:colId xmlns:a16="http://schemas.microsoft.com/office/drawing/2014/main" val="2250874918"/>
                    </a:ext>
                  </a:extLst>
                </a:gridCol>
                <a:gridCol w="1395218">
                  <a:extLst>
                    <a:ext uri="{9D8B030D-6E8A-4147-A177-3AD203B41FA5}">
                      <a16:colId xmlns:a16="http://schemas.microsoft.com/office/drawing/2014/main" val="9969200"/>
                    </a:ext>
                  </a:extLst>
                </a:gridCol>
                <a:gridCol w="1395218">
                  <a:extLst>
                    <a:ext uri="{9D8B030D-6E8A-4147-A177-3AD203B41FA5}">
                      <a16:colId xmlns:a16="http://schemas.microsoft.com/office/drawing/2014/main" val="2363718372"/>
                    </a:ext>
                  </a:extLst>
                </a:gridCol>
                <a:gridCol w="1395218">
                  <a:extLst>
                    <a:ext uri="{9D8B030D-6E8A-4147-A177-3AD203B41FA5}">
                      <a16:colId xmlns:a16="http://schemas.microsoft.com/office/drawing/2014/main" val="1819051342"/>
                    </a:ext>
                  </a:extLst>
                </a:gridCol>
              </a:tblGrid>
              <a:tr h="318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Q: quantity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(a) Apples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(b) Brown sugar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(c) Choc chips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482171"/>
                  </a:ext>
                </a:extLst>
              </a:tr>
              <a:tr h="3181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Raphael (r)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21122"/>
                  </a:ext>
                </a:extLst>
              </a:tr>
              <a:tr h="318173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Shane (s)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9583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DF0A372-27C4-704A-FAD5-253886BF9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521311"/>
              </p:ext>
            </p:extLst>
          </p:nvPr>
        </p:nvGraphicFramePr>
        <p:xfrm>
          <a:off x="6226815" y="305515"/>
          <a:ext cx="5151264" cy="2499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816">
                  <a:extLst>
                    <a:ext uri="{9D8B030D-6E8A-4147-A177-3AD203B41FA5}">
                      <a16:colId xmlns:a16="http://schemas.microsoft.com/office/drawing/2014/main" val="4092026021"/>
                    </a:ext>
                  </a:extLst>
                </a:gridCol>
                <a:gridCol w="1287816">
                  <a:extLst>
                    <a:ext uri="{9D8B030D-6E8A-4147-A177-3AD203B41FA5}">
                      <a16:colId xmlns:a16="http://schemas.microsoft.com/office/drawing/2014/main" val="3995195705"/>
                    </a:ext>
                  </a:extLst>
                </a:gridCol>
                <a:gridCol w="1287816">
                  <a:extLst>
                    <a:ext uri="{9D8B030D-6E8A-4147-A177-3AD203B41FA5}">
                      <a16:colId xmlns:a16="http://schemas.microsoft.com/office/drawing/2014/main" val="2796921869"/>
                    </a:ext>
                  </a:extLst>
                </a:gridCol>
                <a:gridCol w="1287816">
                  <a:extLst>
                    <a:ext uri="{9D8B030D-6E8A-4147-A177-3AD203B41FA5}">
                      <a16:colId xmlns:a16="http://schemas.microsoft.com/office/drawing/2014/main" val="2340109040"/>
                    </a:ext>
                  </a:extLst>
                </a:gridCol>
              </a:tblGrid>
              <a:tr h="579591"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chemeClr val="tx1"/>
                          </a:solidFill>
                        </a:rPr>
                        <a:t>P: prices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(e) East End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CoOp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(f) Food Lion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(g) Giant Eagle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01466"/>
                  </a:ext>
                </a:extLst>
              </a:tr>
              <a:tr h="579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(a) Apples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0.80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1.20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0408"/>
                  </a:ext>
                </a:extLst>
              </a:tr>
              <a:tr h="579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(b) Brown sugar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1.50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1.25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63573"/>
                  </a:ext>
                </a:extLst>
              </a:tr>
              <a:tr h="579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(c) Choc chips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4.00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4.50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3.75</a:t>
                      </a:r>
                    </a:p>
                    <a:p>
                      <a:pPr algn="r"/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278958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EC106C4-6E35-8240-F9F2-B750E1FBC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326706"/>
              </p:ext>
            </p:extLst>
          </p:nvPr>
        </p:nvGraphicFramePr>
        <p:xfrm>
          <a:off x="1418570" y="3953434"/>
          <a:ext cx="105685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6">
                  <a:extLst>
                    <a:ext uri="{9D8B030D-6E8A-4147-A177-3AD203B41FA5}">
                      <a16:colId xmlns:a16="http://schemas.microsoft.com/office/drawing/2014/main" val="2433547157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3534594198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1410062937"/>
                    </a:ext>
                  </a:extLst>
                </a:gridCol>
              </a:tblGrid>
              <a:tr h="201957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657682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5876700-AE59-76A7-F40A-819C19F80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52860"/>
              </p:ext>
            </p:extLst>
          </p:nvPr>
        </p:nvGraphicFramePr>
        <p:xfrm>
          <a:off x="2475428" y="3953436"/>
          <a:ext cx="649356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356">
                  <a:extLst>
                    <a:ext uri="{9D8B030D-6E8A-4147-A177-3AD203B41FA5}">
                      <a16:colId xmlns:a16="http://schemas.microsoft.com/office/drawing/2014/main" val="13332619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97694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58864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61207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FEE7395-48B8-295F-1BE0-D098F9C4D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561039"/>
              </p:ext>
            </p:extLst>
          </p:nvPr>
        </p:nvGraphicFramePr>
        <p:xfrm>
          <a:off x="3598546" y="3953434"/>
          <a:ext cx="105685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6">
                  <a:extLst>
                    <a:ext uri="{9D8B030D-6E8A-4147-A177-3AD203B41FA5}">
                      <a16:colId xmlns:a16="http://schemas.microsoft.com/office/drawing/2014/main" val="2433547157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3534594198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1410062937"/>
                    </a:ext>
                  </a:extLst>
                </a:gridCol>
              </a:tblGrid>
              <a:tr h="201957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65768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8893FFA-ABEC-45D9-EA4C-64CF97AF0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508782"/>
              </p:ext>
            </p:extLst>
          </p:nvPr>
        </p:nvGraphicFramePr>
        <p:xfrm>
          <a:off x="4655404" y="3953436"/>
          <a:ext cx="649356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356">
                  <a:extLst>
                    <a:ext uri="{9D8B030D-6E8A-4147-A177-3AD203B41FA5}">
                      <a16:colId xmlns:a16="http://schemas.microsoft.com/office/drawing/2014/main" val="13332619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97694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1.00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58864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4.50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61207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5BA0A26-080A-6B1E-40A9-C5D84FEF9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07758"/>
              </p:ext>
            </p:extLst>
          </p:nvPr>
        </p:nvGraphicFramePr>
        <p:xfrm>
          <a:off x="5765283" y="3953434"/>
          <a:ext cx="105685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6">
                  <a:extLst>
                    <a:ext uri="{9D8B030D-6E8A-4147-A177-3AD203B41FA5}">
                      <a16:colId xmlns:a16="http://schemas.microsoft.com/office/drawing/2014/main" val="2433547157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3534594198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1410062937"/>
                    </a:ext>
                  </a:extLst>
                </a:gridCol>
              </a:tblGrid>
              <a:tr h="201957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657682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335088B-0E77-1303-44FF-D23877510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195592"/>
              </p:ext>
            </p:extLst>
          </p:nvPr>
        </p:nvGraphicFramePr>
        <p:xfrm>
          <a:off x="6822141" y="3953436"/>
          <a:ext cx="649356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356">
                  <a:extLst>
                    <a:ext uri="{9D8B030D-6E8A-4147-A177-3AD203B41FA5}">
                      <a16:colId xmlns:a16="http://schemas.microsoft.com/office/drawing/2014/main" val="13332619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1.20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97694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1.25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58864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3.75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61207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FC64399-6D61-BE2C-EDFD-08F960B18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950894"/>
              </p:ext>
            </p:extLst>
          </p:nvPr>
        </p:nvGraphicFramePr>
        <p:xfrm>
          <a:off x="1418570" y="5311782"/>
          <a:ext cx="105685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6">
                  <a:extLst>
                    <a:ext uri="{9D8B030D-6E8A-4147-A177-3AD203B41FA5}">
                      <a16:colId xmlns:a16="http://schemas.microsoft.com/office/drawing/2014/main" val="2433547157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3534594198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1410062937"/>
                    </a:ext>
                  </a:extLst>
                </a:gridCol>
              </a:tblGrid>
              <a:tr h="201957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657682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B32B7EA1-09C1-3B46-9E13-F44FC52F6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955238"/>
              </p:ext>
            </p:extLst>
          </p:nvPr>
        </p:nvGraphicFramePr>
        <p:xfrm>
          <a:off x="2475428" y="5311784"/>
          <a:ext cx="649356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356">
                  <a:extLst>
                    <a:ext uri="{9D8B030D-6E8A-4147-A177-3AD203B41FA5}">
                      <a16:colId xmlns:a16="http://schemas.microsoft.com/office/drawing/2014/main" val="13332619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97694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58864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4.00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61207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A5B0EB5-047A-D47D-30D2-FA10A1C95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319649"/>
              </p:ext>
            </p:extLst>
          </p:nvPr>
        </p:nvGraphicFramePr>
        <p:xfrm>
          <a:off x="4655404" y="5311784"/>
          <a:ext cx="649356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356">
                  <a:extLst>
                    <a:ext uri="{9D8B030D-6E8A-4147-A177-3AD203B41FA5}">
                      <a16:colId xmlns:a16="http://schemas.microsoft.com/office/drawing/2014/main" val="13332619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0.80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97694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1.00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58864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4.50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61207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821FB603-4E79-2F9B-9BCD-EE4B69DE0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2848"/>
              </p:ext>
            </p:extLst>
          </p:nvPr>
        </p:nvGraphicFramePr>
        <p:xfrm>
          <a:off x="6822141" y="5311784"/>
          <a:ext cx="649356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9356">
                  <a:extLst>
                    <a:ext uri="{9D8B030D-6E8A-4147-A177-3AD203B41FA5}">
                      <a16:colId xmlns:a16="http://schemas.microsoft.com/office/drawing/2014/main" val="13332619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1.20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97694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1.25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58864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3.75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61207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A70B930-FA0F-6252-2C21-33F0D420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511147"/>
              </p:ext>
            </p:extLst>
          </p:nvPr>
        </p:nvGraphicFramePr>
        <p:xfrm>
          <a:off x="5758820" y="5311782"/>
          <a:ext cx="105685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6">
                  <a:extLst>
                    <a:ext uri="{9D8B030D-6E8A-4147-A177-3AD203B41FA5}">
                      <a16:colId xmlns:a16="http://schemas.microsoft.com/office/drawing/2014/main" val="1364302646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897129219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3174369069"/>
                    </a:ext>
                  </a:extLst>
                </a:gridCol>
              </a:tblGrid>
              <a:tr h="22435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410703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6794A30D-9935-F21D-556F-4C8B3944F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91465"/>
              </p:ext>
            </p:extLst>
          </p:nvPr>
        </p:nvGraphicFramePr>
        <p:xfrm>
          <a:off x="3588695" y="5311782"/>
          <a:ext cx="105685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86">
                  <a:extLst>
                    <a:ext uri="{9D8B030D-6E8A-4147-A177-3AD203B41FA5}">
                      <a16:colId xmlns:a16="http://schemas.microsoft.com/office/drawing/2014/main" val="1364302646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897129219"/>
                    </a:ext>
                  </a:extLst>
                </a:gridCol>
                <a:gridCol w="352286">
                  <a:extLst>
                    <a:ext uri="{9D8B030D-6E8A-4147-A177-3AD203B41FA5}">
                      <a16:colId xmlns:a16="http://schemas.microsoft.com/office/drawing/2014/main" val="3174369069"/>
                    </a:ext>
                  </a:extLst>
                </a:gridCol>
              </a:tblGrid>
              <a:tr h="201957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41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24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703</Words>
  <Application>Microsoft Macintosh PowerPoint</Application>
  <PresentationFormat>Widescreen</PresentationFormat>
  <Paragraphs>172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Ink Free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 Cohen</dc:creator>
  <cp:lastModifiedBy>William W Cohen</cp:lastModifiedBy>
  <cp:revision>53</cp:revision>
  <dcterms:created xsi:type="dcterms:W3CDTF">2025-11-23T21:56:45Z</dcterms:created>
  <dcterms:modified xsi:type="dcterms:W3CDTF">2025-11-30T17:28:14Z</dcterms:modified>
</cp:coreProperties>
</file>