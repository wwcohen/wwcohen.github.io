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631"/>
  </p:normalViewPr>
  <p:slideViewPr>
    <p:cSldViewPr snapToGrid="0">
      <p:cViewPr varScale="1">
        <p:scale>
          <a:sx n="97" d="100"/>
          <a:sy n="97" d="100"/>
        </p:scale>
        <p:origin x="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8C7975-7758-2A45-89D3-3D92B788EE9F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B96BB1-5389-484D-8753-59F479745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412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B96BB1-5389-484D-8753-59F47974580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47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3FCE1-B757-A43E-F172-848C9DFA27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1E3C2-4E6D-AF72-B1D6-D0C5B5E44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48E53-EBEA-7A58-2741-20C98908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2CB40-7D0F-162E-3FC5-E53DDB17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24F8F-6FA9-4C63-7123-F324F65A3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124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DD0C9-7FFF-21A1-FD8D-482C3F78E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AF38-88FF-F393-2E15-AD8429D8C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2CAF-F81E-4586-3E59-372EC239F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B21879-0706-9ADD-15C6-489A31623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38FC-D414-A5EA-3C31-1C638A7BF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0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608A3-ABE7-3A8D-34E1-DA6C2BFF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00ED41-01AC-79AE-4855-323053728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8EC7-20B3-1E84-9BCE-F00FBD3C7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37785-8E7B-928D-0CD9-AA3160CB9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058E7-EC4A-5594-F815-4F2662255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3302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A6BDF-C0DA-A5C5-B780-9C9B63616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4A5F-2BCA-F90C-7B50-BE0A64E5C9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162685-95CA-FFD8-536D-587A31AC9A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1895D9-B809-BC82-AF06-0A19D20A3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27D69-86EC-B541-B890-28178923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B9038-15B0-FEBC-69A4-FDB4DF5F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372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6949-7170-6E95-017D-3F6BD044F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77A88-3BFA-2BBB-A3B0-74A56A19F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5E6C0-1D99-4D0A-08FB-5C3B9D493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83E972-5AE8-D46C-72FB-E771931481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A3EC5-85B1-DB15-D574-EB04B5ACC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F164EC-A9B0-35B8-ADCD-88A0767D2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41383-6FC3-8BEA-C20E-0ACA0F2AE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1957AC-9AB1-FF5F-5012-8B6910DD7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56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60FB7-C77C-ECC5-B177-38FDEF992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0E3F6D-37F5-D922-77B0-E6F2A6DCC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8E3ACB-E704-960B-3768-971E3D594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43D62-C1A8-1192-917F-98527D2A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19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A9B171-3DB9-BC62-9FBB-FAC3392DA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5AF0B6-F258-0E08-DD18-3E2C5D232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5BD89-9805-24FE-705B-3998D8FFA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368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1ABC2-EEF3-3ACE-6A8E-C58609F1E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15EE9-1A4F-D07F-9689-DB60E26AB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D2802F-6E01-A442-17A3-9CD956EF9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972E01-29D0-D93E-6AD2-6CB35C954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F23B5-5365-70C0-C158-7E43DAE6B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CEF37-BA99-ECBE-5D2B-19C8D89AA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92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CA2B-CD66-1DEC-3153-BF82D72B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D6C35A-5CEA-1658-5C3E-B5019385D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32CD9-C606-2429-4F11-27B40A11C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A7F95-55E4-B210-17FF-E80C4D21B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1C1D3-6750-A282-6FF8-CC988212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E0DAC-8533-427D-83C1-9F9AC97C3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015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C97B-18E7-AE6A-37D5-89CD2E56B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5E6BD5-833C-3179-013B-C28B6305B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DECCA-430E-A699-97AE-BFAD2ADFC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1547-C448-5A2E-4035-7A0B67724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C588F-D8B1-61A9-5936-34525BA04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636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8495E2-DA79-549F-E7FE-79EBC0E58E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39BFDA-8298-E3CB-4299-8BE419CE2E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5988E-937C-347D-7B16-CCF75378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8A4A4-F674-5B1B-362E-24D50C1D8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2372C-CD11-7DB0-3009-9FCC3DA81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63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3B6444-340E-B434-5117-BCD43FC0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3662E2-60D1-04E0-AF7F-C997FD2C4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4C788-A32A-F5CF-2714-98099D04EB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02925-4665-5F46-8E77-D7976938C888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FEFFC-EC29-B4DE-92DF-C20E7F685D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1143A-4ABD-B609-505A-4CEF159B31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005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3F50B-A79C-905B-7F20-D7CA6C2E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0CA43D4A-0750-BC70-53AD-2EBD155470C2}"/>
              </a:ext>
            </a:extLst>
          </p:cNvPr>
          <p:cNvGrpSpPr/>
          <p:nvPr/>
        </p:nvGrpSpPr>
        <p:grpSpPr>
          <a:xfrm>
            <a:off x="554633" y="586441"/>
            <a:ext cx="5223983" cy="3269973"/>
            <a:chOff x="352605" y="569844"/>
            <a:chExt cx="7264578" cy="441297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BE6C25C-C16E-45C6-A8E8-BA6195A5A518}"/>
                </a:ext>
              </a:extLst>
            </p:cNvPr>
            <p:cNvSpPr/>
            <p:nvPr/>
          </p:nvSpPr>
          <p:spPr>
            <a:xfrm>
              <a:off x="3418905" y="728869"/>
              <a:ext cx="450574" cy="371060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B192779-C53B-9F4C-47CF-17221D6199E8}"/>
                </a:ext>
              </a:extLst>
            </p:cNvPr>
            <p:cNvSpPr/>
            <p:nvPr/>
          </p:nvSpPr>
          <p:spPr>
            <a:xfrm>
              <a:off x="6095999" y="728869"/>
              <a:ext cx="450574" cy="3710609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3C65449-2460-9B9D-29E2-49A9C916D5FC}"/>
                </a:ext>
              </a:extLst>
            </p:cNvPr>
            <p:cNvSpPr/>
            <p:nvPr/>
          </p:nvSpPr>
          <p:spPr>
            <a:xfrm>
              <a:off x="2928574" y="1666543"/>
              <a:ext cx="1429187" cy="4140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AEEA9C3-0E04-77EF-CE9E-C01FF116BD6C}"/>
                </a:ext>
              </a:extLst>
            </p:cNvPr>
            <p:cNvSpPr/>
            <p:nvPr/>
          </p:nvSpPr>
          <p:spPr>
            <a:xfrm>
              <a:off x="2928572" y="3018264"/>
              <a:ext cx="1292740" cy="5313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6" name="Graphic 55" descr="Flashlight outline">
              <a:extLst>
                <a:ext uri="{FF2B5EF4-FFF2-40B4-BE49-F238E27FC236}">
                  <a16:creationId xmlns:a16="http://schemas.microsoft.com/office/drawing/2014/main" id="{0A6F56D9-D34C-6F32-CAA0-6A8C7AF6E4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700000">
              <a:off x="352605" y="2193234"/>
              <a:ext cx="914400" cy="914400"/>
            </a:xfrm>
            <a:prstGeom prst="rect">
              <a:avLst/>
            </a:prstGeom>
          </p:spPr>
        </p:pic>
        <p:pic>
          <p:nvPicPr>
            <p:cNvPr id="57" name="Graphic 56" descr="Normal Distribution outline">
              <a:extLst>
                <a:ext uri="{FF2B5EF4-FFF2-40B4-BE49-F238E27FC236}">
                  <a16:creationId xmlns:a16="http://schemas.microsoft.com/office/drawing/2014/main" id="{1F47ECB8-DF0C-EB43-E044-3A24B2923A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r="18910"/>
            <a:stretch>
              <a:fillRect/>
            </a:stretch>
          </p:blipFill>
          <p:spPr>
            <a:xfrm rot="16200000">
              <a:off x="3674087" y="1255565"/>
              <a:ext cx="3107634" cy="1736192"/>
            </a:xfrm>
            <a:prstGeom prst="rect">
              <a:avLst/>
            </a:prstGeom>
          </p:spPr>
        </p:pic>
        <p:pic>
          <p:nvPicPr>
            <p:cNvPr id="58" name="Graphic 57" descr="Normal Distribution outline">
              <a:extLst>
                <a:ext uri="{FF2B5EF4-FFF2-40B4-BE49-F238E27FC236}">
                  <a16:creationId xmlns:a16="http://schemas.microsoft.com/office/drawing/2014/main" id="{B7CCBE32-D187-AEE6-05CF-BD754BBAB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r="18910"/>
            <a:stretch>
              <a:fillRect/>
            </a:stretch>
          </p:blipFill>
          <p:spPr>
            <a:xfrm rot="16200000">
              <a:off x="958324" y="1939140"/>
              <a:ext cx="3352800" cy="1873163"/>
            </a:xfrm>
            <a:prstGeom prst="rect">
              <a:avLst/>
            </a:prstGeom>
          </p:spPr>
        </p:pic>
        <p:pic>
          <p:nvPicPr>
            <p:cNvPr id="59" name="Graphic 58" descr="Normal Distribution outline">
              <a:extLst>
                <a:ext uri="{FF2B5EF4-FFF2-40B4-BE49-F238E27FC236}">
                  <a16:creationId xmlns:a16="http://schemas.microsoft.com/office/drawing/2014/main" id="{90D9142C-3E05-9DD8-6A17-159A8D76C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r="18910"/>
            <a:stretch>
              <a:fillRect/>
            </a:stretch>
          </p:blipFill>
          <p:spPr>
            <a:xfrm rot="16200000">
              <a:off x="3674087" y="2560904"/>
              <a:ext cx="3107634" cy="1736192"/>
            </a:xfrm>
            <a:prstGeom prst="rect">
              <a:avLst/>
            </a:prstGeom>
          </p:spPr>
        </p:pic>
        <p:pic>
          <p:nvPicPr>
            <p:cNvPr id="60" name="Graphic 59" descr="Eye with solid fill">
              <a:extLst>
                <a:ext uri="{FF2B5EF4-FFF2-40B4-BE49-F238E27FC236}">
                  <a16:creationId xmlns:a16="http://schemas.microsoft.com/office/drawing/2014/main" id="{DE9E040D-1899-C155-3415-12E1412393C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880992" y="1063486"/>
              <a:ext cx="914400" cy="914400"/>
            </a:xfrm>
            <a:prstGeom prst="rect">
              <a:avLst/>
            </a:prstGeom>
          </p:spPr>
        </p:pic>
        <p:pic>
          <p:nvPicPr>
            <p:cNvPr id="61" name="Graphic 60" descr="Eye with solid fill">
              <a:extLst>
                <a:ext uri="{FF2B5EF4-FFF2-40B4-BE49-F238E27FC236}">
                  <a16:creationId xmlns:a16="http://schemas.microsoft.com/office/drawing/2014/main" id="{16237CAE-9E63-206C-BAA2-8A75512A5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864087" y="2080591"/>
              <a:ext cx="914400" cy="914400"/>
            </a:xfrm>
            <a:prstGeom prst="rect">
              <a:avLst/>
            </a:prstGeom>
          </p:spPr>
        </p:pic>
        <p:pic>
          <p:nvPicPr>
            <p:cNvPr id="62" name="Graphic 61" descr="Eye with solid fill">
              <a:extLst>
                <a:ext uri="{FF2B5EF4-FFF2-40B4-BE49-F238E27FC236}">
                  <a16:creationId xmlns:a16="http://schemas.microsoft.com/office/drawing/2014/main" id="{682A65D2-CB51-B673-4FE6-92774DD437D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892418" y="3160643"/>
              <a:ext cx="914400" cy="9144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EE44035-6989-59A9-BB98-D79F81C26738}"/>
                </a:ext>
              </a:extLst>
            </p:cNvPr>
            <p:cNvSpPr txBox="1"/>
            <p:nvPr/>
          </p:nvSpPr>
          <p:spPr>
            <a:xfrm>
              <a:off x="3490387" y="1620078"/>
              <a:ext cx="365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a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8EE9DC8-45F1-8A43-AB26-932EC6084563}"/>
                </a:ext>
              </a:extLst>
            </p:cNvPr>
            <p:cNvSpPr txBox="1"/>
            <p:nvPr/>
          </p:nvSpPr>
          <p:spPr>
            <a:xfrm>
              <a:off x="3510268" y="3099627"/>
              <a:ext cx="365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b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CA96744-42C3-A7AC-B300-B09B3D43CD44}"/>
                </a:ext>
              </a:extLst>
            </p:cNvPr>
            <p:cNvSpPr txBox="1"/>
            <p:nvPr/>
          </p:nvSpPr>
          <p:spPr>
            <a:xfrm>
              <a:off x="6886174" y="1336020"/>
              <a:ext cx="7310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c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2BFCB132-A5BA-24AE-C4F8-FDC5524895D5}"/>
                </a:ext>
              </a:extLst>
            </p:cNvPr>
            <p:cNvSpPr txBox="1"/>
            <p:nvPr/>
          </p:nvSpPr>
          <p:spPr>
            <a:xfrm>
              <a:off x="6916982" y="2399506"/>
              <a:ext cx="6693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d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6E6EDA0-91EB-E4DF-9971-5713D6C2F2CD}"/>
                </a:ext>
              </a:extLst>
            </p:cNvPr>
            <p:cNvSpPr txBox="1"/>
            <p:nvPr/>
          </p:nvSpPr>
          <p:spPr>
            <a:xfrm>
              <a:off x="6916981" y="3462992"/>
              <a:ext cx="6693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e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EDE4C9F-C7FD-3E21-9FC4-EACA2F3CFD84}"/>
                </a:ext>
              </a:extLst>
            </p:cNvPr>
            <p:cNvSpPr txBox="1"/>
            <p:nvPr/>
          </p:nvSpPr>
          <p:spPr>
            <a:xfrm>
              <a:off x="365395" y="2730811"/>
              <a:ext cx="365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s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CEA8F296-BA2C-2828-2C4D-89B08AD30A8F}"/>
              </a:ext>
            </a:extLst>
          </p:cNvPr>
          <p:cNvGrpSpPr/>
          <p:nvPr/>
        </p:nvGrpSpPr>
        <p:grpSpPr>
          <a:xfrm>
            <a:off x="7183265" y="957775"/>
            <a:ext cx="3172532" cy="1945399"/>
            <a:chOff x="7183265" y="957775"/>
            <a:chExt cx="3172532" cy="194539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49686DE-9B88-6812-CAE9-A5C571F836B9}"/>
                </a:ext>
              </a:extLst>
            </p:cNvPr>
            <p:cNvSpPr/>
            <p:nvPr/>
          </p:nvSpPr>
          <p:spPr>
            <a:xfrm>
              <a:off x="7183266" y="1116706"/>
              <a:ext cx="1029206" cy="3927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851D3B7-D76E-9B75-82DC-10BE6230A282}"/>
                </a:ext>
              </a:extLst>
            </p:cNvPr>
            <p:cNvSpPr/>
            <p:nvPr/>
          </p:nvSpPr>
          <p:spPr>
            <a:xfrm>
              <a:off x="7183265" y="2108500"/>
              <a:ext cx="1029206" cy="3927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E74F926-AEB0-CB45-C34C-2A14A44ED625}"/>
                </a:ext>
              </a:extLst>
            </p:cNvPr>
            <p:cNvSpPr txBox="1"/>
            <p:nvPr/>
          </p:nvSpPr>
          <p:spPr>
            <a:xfrm>
              <a:off x="8618216" y="1219173"/>
              <a:ext cx="263077" cy="27367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i="1" dirty="0"/>
                <a:t>a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4A403C4-E1B6-7B27-49A0-0E470B9A6764}"/>
                </a:ext>
              </a:extLst>
            </p:cNvPr>
            <p:cNvSpPr txBox="1"/>
            <p:nvPr/>
          </p:nvSpPr>
          <p:spPr>
            <a:xfrm>
              <a:off x="8632512" y="2328757"/>
              <a:ext cx="263077" cy="27367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i="1" dirty="0"/>
                <a:t>b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3CF1763-F1A9-D83F-4DCE-D1A16BDE7DE9}"/>
                </a:ext>
              </a:extLst>
            </p:cNvPr>
            <p:cNvSpPr txBox="1"/>
            <p:nvPr/>
          </p:nvSpPr>
          <p:spPr>
            <a:xfrm>
              <a:off x="10029190" y="957775"/>
              <a:ext cx="326607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i="1" dirty="0"/>
                <a:t>c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55AA57E-229C-67C4-A44C-CF5FE988DE9E}"/>
                </a:ext>
              </a:extLst>
            </p:cNvPr>
            <p:cNvSpPr txBox="1"/>
            <p:nvPr/>
          </p:nvSpPr>
          <p:spPr>
            <a:xfrm>
              <a:off x="10051344" y="1745809"/>
              <a:ext cx="299077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i="1" dirty="0"/>
                <a:t>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8803BFF-D706-FEDF-6A3B-C4D1E4F94AF5}"/>
                </a:ext>
              </a:extLst>
            </p:cNvPr>
            <p:cNvSpPr txBox="1"/>
            <p:nvPr/>
          </p:nvSpPr>
          <p:spPr>
            <a:xfrm>
              <a:off x="10051343" y="2533842"/>
              <a:ext cx="299077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i="1" dirty="0"/>
                <a:t>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7CABE3E-E462-C660-0A67-7A34E2CACA42}"/>
                </a:ext>
              </a:extLst>
            </p:cNvPr>
            <p:cNvSpPr txBox="1"/>
            <p:nvPr/>
          </p:nvSpPr>
          <p:spPr>
            <a:xfrm>
              <a:off x="7422270" y="1809293"/>
              <a:ext cx="263077" cy="27367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i="1" dirty="0"/>
                <a:t>s</a:t>
              </a: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735FF4D0-04EA-A88D-118C-FC13BD02CB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52063" y="1474962"/>
              <a:ext cx="758914" cy="4446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38E3A6F-790C-AAA2-6736-029FBB0C4FB1}"/>
                </a:ext>
              </a:extLst>
            </p:cNvPr>
            <p:cNvCxnSpPr>
              <a:cxnSpLocks/>
            </p:cNvCxnSpPr>
            <p:nvPr/>
          </p:nvCxnSpPr>
          <p:spPr>
            <a:xfrm>
              <a:off x="7740873" y="2056461"/>
              <a:ext cx="770104" cy="30735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04246876-D5E3-B596-31A3-B29FF94251E6}"/>
                </a:ext>
              </a:extLst>
            </p:cNvPr>
            <p:cNvGrpSpPr/>
            <p:nvPr/>
          </p:nvGrpSpPr>
          <p:grpSpPr>
            <a:xfrm>
              <a:off x="8940098" y="1142441"/>
              <a:ext cx="1089092" cy="1486202"/>
              <a:chOff x="8940098" y="1142441"/>
              <a:chExt cx="1089092" cy="1486202"/>
            </a:xfrm>
          </p:grpSpPr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FA5AFAC7-6357-1F3F-0EC6-C396462D1EBE}"/>
                  </a:ext>
                </a:extLst>
              </p:cNvPr>
              <p:cNvCxnSpPr>
                <a:cxnSpLocks/>
                <a:endCxn id="26" idx="1"/>
              </p:cNvCxnSpPr>
              <p:nvPr/>
            </p:nvCxnSpPr>
            <p:spPr>
              <a:xfrm flipV="1">
                <a:off x="8940098" y="1142441"/>
                <a:ext cx="1089092" cy="2164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D1E7E9AA-77DE-82AE-8055-2E76360301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6361" y="1452386"/>
                <a:ext cx="1059689" cy="117625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2D338E16-67F1-18E6-319A-95709A7178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89162" y="1399086"/>
                <a:ext cx="1008134" cy="4484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4C025BC0-2811-3273-CD49-75B0C8702EA2}"/>
                </a:ext>
              </a:extLst>
            </p:cNvPr>
            <p:cNvGrpSpPr/>
            <p:nvPr/>
          </p:nvGrpSpPr>
          <p:grpSpPr>
            <a:xfrm flipV="1">
              <a:off x="8938405" y="1293461"/>
              <a:ext cx="1073985" cy="1461175"/>
              <a:chOff x="10092565" y="1162080"/>
              <a:chExt cx="1089092" cy="1545063"/>
            </a:xfrm>
          </p:grpSpPr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0A4F5075-39D1-5065-2926-93366224F26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92565" y="1162080"/>
                <a:ext cx="1089092" cy="2164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68D007CE-0C32-A1A9-8175-5A691FBC96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169" y="1530886"/>
                <a:ext cx="1059689" cy="117625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>
                <a:extLst>
                  <a:ext uri="{FF2B5EF4-FFF2-40B4-BE49-F238E27FC236}">
                    <a16:creationId xmlns:a16="http://schemas.microsoft.com/office/drawing/2014/main" id="{59643340-BDCC-E4B5-08CE-1AD9893BD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4718" y="1490838"/>
                <a:ext cx="1008134" cy="4484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88" name="Oval Callout 87">
            <a:extLst>
              <a:ext uri="{FF2B5EF4-FFF2-40B4-BE49-F238E27FC236}">
                <a16:creationId xmlns:a16="http://schemas.microsoft.com/office/drawing/2014/main" id="{61EA09CC-67E8-4B6E-EB59-FCB31330FAE8}"/>
              </a:ext>
            </a:extLst>
          </p:cNvPr>
          <p:cNvSpPr/>
          <p:nvPr/>
        </p:nvSpPr>
        <p:spPr>
          <a:xfrm>
            <a:off x="6096000" y="95505"/>
            <a:ext cx="3140765" cy="859514"/>
          </a:xfrm>
          <a:prstGeom prst="wedgeEllipseCallout">
            <a:avLst>
              <a:gd name="adj1" fmla="val 13754"/>
              <a:gd name="adj2" fmla="val 122897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probability of photon moving </a:t>
            </a:r>
            <a:r>
              <a:rPr lang="en-US" dirty="0" err="1"/>
              <a:t>s</a:t>
            </a:r>
            <a:r>
              <a:rPr lang="en-US" dirty="0" err="1">
                <a:sym typeface="Wingdings" pitchFamily="2" charset="2"/>
              </a:rPr>
              <a:t>a</a:t>
            </a:r>
            <a:endParaRPr lang="en-US" dirty="0"/>
          </a:p>
        </p:txBody>
      </p:sp>
      <p:sp>
        <p:nvSpPr>
          <p:cNvPr id="89" name="Oval Callout 88">
            <a:extLst>
              <a:ext uri="{FF2B5EF4-FFF2-40B4-BE49-F238E27FC236}">
                <a16:creationId xmlns:a16="http://schemas.microsoft.com/office/drawing/2014/main" id="{2508F003-9B44-6E01-0B60-204FAA2E847C}"/>
              </a:ext>
            </a:extLst>
          </p:cNvPr>
          <p:cNvSpPr/>
          <p:nvPr/>
        </p:nvSpPr>
        <p:spPr>
          <a:xfrm>
            <a:off x="7199484" y="3095313"/>
            <a:ext cx="3140765" cy="859514"/>
          </a:xfrm>
          <a:prstGeom prst="wedgeEllipseCallout">
            <a:avLst>
              <a:gd name="adj1" fmla="val 20083"/>
              <a:gd name="adj2" fmla="val -94500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probability of photon moving </a:t>
            </a:r>
            <a:r>
              <a:rPr lang="en-US" dirty="0" err="1"/>
              <a:t>b</a:t>
            </a:r>
            <a:r>
              <a:rPr lang="en-US" dirty="0" err="1">
                <a:sym typeface="Wingdings" pitchFamily="2" charset="2"/>
              </a:rPr>
              <a:t>e</a:t>
            </a:r>
            <a:endParaRPr lang="en-US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49A0745-EEBB-17EB-C665-5A0C79318C67}"/>
              </a:ext>
            </a:extLst>
          </p:cNvPr>
          <p:cNvSpPr txBox="1"/>
          <p:nvPr/>
        </p:nvSpPr>
        <p:spPr>
          <a:xfrm rot="19815816">
            <a:off x="7857867" y="1672783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7389BA-258E-3F98-D8C2-C20048617EEE}"/>
              </a:ext>
            </a:extLst>
          </p:cNvPr>
          <p:cNvSpPr txBox="1"/>
          <p:nvPr/>
        </p:nvSpPr>
        <p:spPr>
          <a:xfrm rot="927199">
            <a:off x="7986812" y="1984221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2096AC0-7B48-A20B-CE2A-0B2903D53299}"/>
              </a:ext>
            </a:extLst>
          </p:cNvPr>
          <p:cNvSpPr txBox="1"/>
          <p:nvPr/>
        </p:nvSpPr>
        <p:spPr>
          <a:xfrm rot="476796">
            <a:off x="9222884" y="2374525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0.15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CB12913-86BC-A540-F7F9-DFA87E2A6399}"/>
              </a:ext>
            </a:extLst>
          </p:cNvPr>
          <p:cNvSpPr txBox="1"/>
          <p:nvPr/>
        </p:nvSpPr>
        <p:spPr>
          <a:xfrm rot="20700000">
            <a:off x="9140088" y="925203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0.11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BDF78E5-2965-9A8F-9105-8EA9F9A18775}"/>
              </a:ext>
            </a:extLst>
          </p:cNvPr>
          <p:cNvSpPr txBox="1"/>
          <p:nvPr/>
        </p:nvSpPr>
        <p:spPr>
          <a:xfrm rot="900000">
            <a:off x="9112770" y="1342350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…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9B8DCF7-3DFB-6EFA-857C-50DEADD4C1CB}"/>
              </a:ext>
            </a:extLst>
          </p:cNvPr>
          <p:cNvCxnSpPr/>
          <p:nvPr/>
        </p:nvCxnSpPr>
        <p:spPr>
          <a:xfrm>
            <a:off x="5778616" y="0"/>
            <a:ext cx="0" cy="441297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4ADF552-6567-C53F-922E-6C6F09602580}"/>
              </a:ext>
            </a:extLst>
          </p:cNvPr>
          <p:cNvCxnSpPr>
            <a:cxnSpLocks/>
          </p:cNvCxnSpPr>
          <p:nvPr/>
        </p:nvCxnSpPr>
        <p:spPr>
          <a:xfrm flipH="1">
            <a:off x="695368" y="4412974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85F12DD3-7E77-FCAF-4299-E6E80659F806}"/>
              </a:ext>
            </a:extLst>
          </p:cNvPr>
          <p:cNvCxnSpPr>
            <a:cxnSpLocks/>
          </p:cNvCxnSpPr>
          <p:nvPr/>
        </p:nvCxnSpPr>
        <p:spPr>
          <a:xfrm flipH="1">
            <a:off x="486832" y="6626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FA1DC79E-6980-0FAB-BEC2-6E481F9FCB82}"/>
              </a:ext>
            </a:extLst>
          </p:cNvPr>
          <p:cNvSpPr txBox="1"/>
          <p:nvPr/>
        </p:nvSpPr>
        <p:spPr>
          <a:xfrm>
            <a:off x="727995" y="4575405"/>
            <a:ext cx="4280741" cy="119269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The physical layout of a double slit experiment.  Photons from a flashlight (s) can go through slits (a, or b) and then to one of three photon detectors (c, d, or e).  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7673324-A47E-C767-3C62-BE72BC655C93}"/>
              </a:ext>
            </a:extLst>
          </p:cNvPr>
          <p:cNvSpPr txBox="1"/>
          <p:nvPr/>
        </p:nvSpPr>
        <p:spPr>
          <a:xfrm>
            <a:off x="6139645" y="4750990"/>
            <a:ext cx="5699034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 simplified view of the paths that particles can take from the start (s) to a detector (c, d, or e).</a:t>
            </a:r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71E27C64-ED80-D94B-DE78-8419A18BE62E}"/>
              </a:ext>
            </a:extLst>
          </p:cNvPr>
          <p:cNvSpPr/>
          <p:nvPr/>
        </p:nvSpPr>
        <p:spPr>
          <a:xfrm rot="16200000">
            <a:off x="893527" y="1441348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9294DAF0-64EE-EA30-4535-6641ADDC6AB5}"/>
              </a:ext>
            </a:extLst>
          </p:cNvPr>
          <p:cNvSpPr/>
          <p:nvPr/>
        </p:nvSpPr>
        <p:spPr>
          <a:xfrm rot="16200000">
            <a:off x="2914500" y="785420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4">
            <a:extLst>
              <a:ext uri="{FF2B5EF4-FFF2-40B4-BE49-F238E27FC236}">
                <a16:creationId xmlns:a16="http://schemas.microsoft.com/office/drawing/2014/main" id="{779731F1-937B-0A0E-92FE-403ADE6B0028}"/>
              </a:ext>
            </a:extLst>
          </p:cNvPr>
          <p:cNvSpPr/>
          <p:nvPr/>
        </p:nvSpPr>
        <p:spPr>
          <a:xfrm rot="16200000">
            <a:off x="2842217" y="1908676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469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7AF73D7-F7DE-7A4D-7B27-70A7D7ECDDAA}"/>
              </a:ext>
            </a:extLst>
          </p:cNvPr>
          <p:cNvCxnSpPr>
            <a:cxnSpLocks/>
          </p:cNvCxnSpPr>
          <p:nvPr/>
        </p:nvCxnSpPr>
        <p:spPr>
          <a:xfrm flipH="1">
            <a:off x="486832" y="6626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F369347-FE72-CABF-B5E2-B45D98077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600329"/>
              </p:ext>
            </p:extLst>
          </p:nvPr>
        </p:nvGraphicFramePr>
        <p:xfrm>
          <a:off x="622267" y="370730"/>
          <a:ext cx="515126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088">
                  <a:extLst>
                    <a:ext uri="{9D8B030D-6E8A-4147-A177-3AD203B41FA5}">
                      <a16:colId xmlns:a16="http://schemas.microsoft.com/office/drawing/2014/main" val="9969200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2363718372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1819051342"/>
                    </a:ext>
                  </a:extLst>
                </a:gridCol>
              </a:tblGrid>
              <a:tr h="318173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R: Raphael’s Shopping List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482171"/>
                  </a:ext>
                </a:extLst>
              </a:tr>
              <a:tr h="31817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(a) Apples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(b) Brown sugar (small bag)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(c) Choc chips (12 oz bag)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173763"/>
                  </a:ext>
                </a:extLst>
              </a:tr>
              <a:tr h="318173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912112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6C4A50AB-B951-5553-C33F-60E70F461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825056"/>
              </p:ext>
            </p:extLst>
          </p:nvPr>
        </p:nvGraphicFramePr>
        <p:xfrm>
          <a:off x="648347" y="1860936"/>
          <a:ext cx="5151264" cy="231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088">
                  <a:extLst>
                    <a:ext uri="{9D8B030D-6E8A-4147-A177-3AD203B41FA5}">
                      <a16:colId xmlns:a16="http://schemas.microsoft.com/office/drawing/2014/main" val="4092026021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3995195705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2796921869"/>
                    </a:ext>
                  </a:extLst>
                </a:gridCol>
              </a:tblGrid>
              <a:tr h="579591">
                <a:tc>
                  <a:txBody>
                    <a:bodyPr/>
                    <a:lstStyle/>
                    <a:p>
                      <a:pPr algn="ctr"/>
                      <a:r>
                        <a:rPr lang="en-US" i="0" dirty="0">
                          <a:solidFill>
                            <a:schemeClr val="tx1"/>
                          </a:solidFill>
                        </a:rPr>
                        <a:t>P: Prices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(e) Giant Eagle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(f) Food Lion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701466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(a) Apples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7390408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(b) Brown sugar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63573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(c) Choc Chips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4.50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278958"/>
                  </a:ext>
                </a:extLst>
              </a:tr>
            </a:tbl>
          </a:graphicData>
        </a:graphic>
      </p:graphicFrame>
      <p:grpSp>
        <p:nvGrpSpPr>
          <p:cNvPr id="37" name="Group 36">
            <a:extLst>
              <a:ext uri="{FF2B5EF4-FFF2-40B4-BE49-F238E27FC236}">
                <a16:creationId xmlns:a16="http://schemas.microsoft.com/office/drawing/2014/main" id="{E81BF540-E0D9-3F46-6369-F1ED35827678}"/>
              </a:ext>
            </a:extLst>
          </p:cNvPr>
          <p:cNvGrpSpPr/>
          <p:nvPr/>
        </p:nvGrpSpPr>
        <p:grpSpPr>
          <a:xfrm>
            <a:off x="6769152" y="1124616"/>
            <a:ext cx="3167156" cy="2330751"/>
            <a:chOff x="6891717" y="1636878"/>
            <a:chExt cx="3167156" cy="233075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32986BB-53B2-5EBA-4BD5-B12E1C4CE448}"/>
                </a:ext>
              </a:extLst>
            </p:cNvPr>
            <p:cNvGrpSpPr/>
            <p:nvPr/>
          </p:nvGrpSpPr>
          <p:grpSpPr>
            <a:xfrm>
              <a:off x="6891717" y="1636878"/>
              <a:ext cx="3167156" cy="2330751"/>
              <a:chOff x="888482" y="1281404"/>
              <a:chExt cx="3167156" cy="2330751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963FADF-34F3-281C-4475-C689C80ABC87}"/>
                  </a:ext>
                </a:extLst>
              </p:cNvPr>
              <p:cNvSpPr/>
              <p:nvPr/>
            </p:nvSpPr>
            <p:spPr>
              <a:xfrm>
                <a:off x="888483" y="1281404"/>
                <a:ext cx="1029206" cy="39279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493B70C-861C-44FD-FAA0-043E61048643}"/>
                  </a:ext>
                </a:extLst>
              </p:cNvPr>
              <p:cNvSpPr/>
              <p:nvPr/>
            </p:nvSpPr>
            <p:spPr>
              <a:xfrm>
                <a:off x="888482" y="2273198"/>
                <a:ext cx="1029206" cy="39279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82F14A-FDA5-A813-36A3-CEAA9F30CFDB}"/>
                  </a:ext>
                </a:extLst>
              </p:cNvPr>
              <p:cNvSpPr txBox="1"/>
              <p:nvPr/>
            </p:nvSpPr>
            <p:spPr>
              <a:xfrm>
                <a:off x="2323433" y="1383871"/>
                <a:ext cx="263077" cy="273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a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A21C72-3AC7-6DD0-63AB-8C493A67CEB6}"/>
                  </a:ext>
                </a:extLst>
              </p:cNvPr>
              <p:cNvSpPr txBox="1"/>
              <p:nvPr/>
            </p:nvSpPr>
            <p:spPr>
              <a:xfrm>
                <a:off x="2337729" y="2238771"/>
                <a:ext cx="277879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b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D02333-8504-BE3B-2F45-3110635539B6}"/>
                  </a:ext>
                </a:extLst>
              </p:cNvPr>
              <p:cNvSpPr txBox="1"/>
              <p:nvPr/>
            </p:nvSpPr>
            <p:spPr>
              <a:xfrm>
                <a:off x="2303173" y="3242823"/>
                <a:ext cx="32660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c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48D8079-2044-83C0-B50B-579FE89EE15B}"/>
                  </a:ext>
                </a:extLst>
              </p:cNvPr>
              <p:cNvSpPr txBox="1"/>
              <p:nvPr/>
            </p:nvSpPr>
            <p:spPr>
              <a:xfrm>
                <a:off x="3756561" y="1910507"/>
                <a:ext cx="29907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e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5D505E-0B3A-8DED-39FA-C9EA37622572}"/>
                  </a:ext>
                </a:extLst>
              </p:cNvPr>
              <p:cNvSpPr txBox="1"/>
              <p:nvPr/>
            </p:nvSpPr>
            <p:spPr>
              <a:xfrm>
                <a:off x="3756560" y="2698540"/>
                <a:ext cx="29907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f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D1FAD0-2B0E-E981-F351-F872C404CEA1}"/>
                  </a:ext>
                </a:extLst>
              </p:cNvPr>
              <p:cNvSpPr txBox="1"/>
              <p:nvPr/>
            </p:nvSpPr>
            <p:spPr>
              <a:xfrm>
                <a:off x="1127487" y="1973991"/>
                <a:ext cx="26307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r</a:t>
                </a:r>
              </a:p>
            </p:txBody>
          </p: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00060097-57A1-7ADB-26FF-74AAC175B4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7280" y="1639660"/>
                <a:ext cx="758914" cy="44466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B92B3D4C-66AF-9489-C797-C21910F870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46090" y="2221159"/>
                <a:ext cx="812451" cy="2484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6255EA39-71D5-E499-77DE-121F809FB954}"/>
                  </a:ext>
                </a:extLst>
              </p:cNvPr>
              <p:cNvGrpSpPr/>
              <p:nvPr/>
            </p:nvGrpSpPr>
            <p:grpSpPr>
              <a:xfrm>
                <a:off x="1457280" y="1563784"/>
                <a:ext cx="2273987" cy="1863705"/>
                <a:chOff x="7752063" y="1399086"/>
                <a:chExt cx="2273987" cy="1863705"/>
              </a:xfrm>
            </p:grpSpPr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1297B0B6-4F41-54DA-EDBE-8E4D32CF20E7}"/>
                    </a:ext>
                  </a:extLst>
                </p:cNvPr>
                <p:cNvCxnSpPr>
                  <a:cxnSpLocks/>
                  <a:endCxn id="26" idx="1"/>
                </p:cNvCxnSpPr>
                <p:nvPr/>
              </p:nvCxnSpPr>
              <p:spPr>
                <a:xfrm>
                  <a:off x="7752063" y="2219422"/>
                  <a:ext cx="845893" cy="104336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Arrow Connector 76">
                  <a:extLst>
                    <a:ext uri="{FF2B5EF4-FFF2-40B4-BE49-F238E27FC236}">
                      <a16:creationId xmlns:a16="http://schemas.microsoft.com/office/drawing/2014/main" id="{421A3A97-A618-A912-7D86-B170DF9E59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66361" y="1452386"/>
                  <a:ext cx="1059689" cy="117625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Arrow Connector 78">
                  <a:extLst>
                    <a:ext uri="{FF2B5EF4-FFF2-40B4-BE49-F238E27FC236}">
                      <a16:creationId xmlns:a16="http://schemas.microsoft.com/office/drawing/2014/main" id="{91B848F9-FA36-8BDB-2FEC-FEDEE8151A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89162" y="1399086"/>
                  <a:ext cx="965239" cy="50661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CDFCF51A-A255-56A3-A769-A1B12B7D0D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4379" y="2528512"/>
                <a:ext cx="1023228" cy="3908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80B812CD-DAFC-9B2C-5CA3-27282BBF79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0867" y="2296584"/>
                <a:ext cx="978751" cy="989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>
                <a:extLst>
                  <a:ext uri="{FF2B5EF4-FFF2-40B4-BE49-F238E27FC236}">
                    <a16:creationId xmlns:a16="http://schemas.microsoft.com/office/drawing/2014/main" id="{AB737E55-E581-7F86-2E10-7CCDEA9CCF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94379" y="2184347"/>
                <a:ext cx="965239" cy="2465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F0757F9C-BBBE-2935-740D-E3D54F0387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56284" y="3054681"/>
                <a:ext cx="1029838" cy="3860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E5DF9ED-C268-A2D2-841D-1363F541F497}"/>
                </a:ext>
              </a:extLst>
            </p:cNvPr>
            <p:cNvSpPr txBox="1"/>
            <p:nvPr/>
          </p:nvSpPr>
          <p:spPr>
            <a:xfrm>
              <a:off x="7688310" y="1795769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525A2E1-5D32-A1EF-7DD2-744D77CD8791}"/>
                </a:ext>
              </a:extLst>
            </p:cNvPr>
            <p:cNvSpPr txBox="1"/>
            <p:nvPr/>
          </p:nvSpPr>
          <p:spPr>
            <a:xfrm>
              <a:off x="7787095" y="2347464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93EB953-B9AE-D4B7-B7A4-99C1298F47D1}"/>
                </a:ext>
              </a:extLst>
            </p:cNvPr>
            <p:cNvSpPr txBox="1"/>
            <p:nvPr/>
          </p:nvSpPr>
          <p:spPr>
            <a:xfrm>
              <a:off x="7884808" y="3054014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9DF64B1-75D1-CB32-FF06-F302E9F94E7A}"/>
                </a:ext>
              </a:extLst>
            </p:cNvPr>
            <p:cNvSpPr txBox="1"/>
            <p:nvPr/>
          </p:nvSpPr>
          <p:spPr>
            <a:xfrm>
              <a:off x="9008357" y="1840900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2DBEA6C-7752-AC9B-2986-85B8248726A7}"/>
                </a:ext>
              </a:extLst>
            </p:cNvPr>
            <p:cNvSpPr txBox="1"/>
            <p:nvPr/>
          </p:nvSpPr>
          <p:spPr>
            <a:xfrm>
              <a:off x="8434807" y="2065893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0.8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2C36308-752E-5E8F-017F-85D452BC5327}"/>
                </a:ext>
              </a:extLst>
            </p:cNvPr>
            <p:cNvSpPr txBox="1"/>
            <p:nvPr/>
          </p:nvSpPr>
          <p:spPr>
            <a:xfrm>
              <a:off x="8653545" y="2399565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1.5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4E5C3AE-B759-0C64-9A7C-8CD075DC36F0}"/>
                </a:ext>
              </a:extLst>
            </p:cNvPr>
            <p:cNvSpPr txBox="1"/>
            <p:nvPr/>
          </p:nvSpPr>
          <p:spPr>
            <a:xfrm>
              <a:off x="8992062" y="2753927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25EDDDE-A06B-5BC3-6FE3-584ED076E152}"/>
                </a:ext>
              </a:extLst>
            </p:cNvPr>
            <p:cNvSpPr txBox="1"/>
            <p:nvPr/>
          </p:nvSpPr>
          <p:spPr>
            <a:xfrm>
              <a:off x="8628650" y="3174459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61B7B4-1AAD-DD8D-31B8-E7D2E6E286B5}"/>
                </a:ext>
              </a:extLst>
            </p:cNvPr>
            <p:cNvSpPr txBox="1"/>
            <p:nvPr/>
          </p:nvSpPr>
          <p:spPr>
            <a:xfrm>
              <a:off x="9039528" y="3246406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4.5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21EC76B6-174E-BB2C-0438-D2C9E01FA27A}"/>
              </a:ext>
            </a:extLst>
          </p:cNvPr>
          <p:cNvSpPr txBox="1"/>
          <p:nvPr/>
        </p:nvSpPr>
        <p:spPr>
          <a:xfrm>
            <a:off x="1046556" y="4620172"/>
            <a:ext cx="8590674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/>
              <a:t>Cost at Giant Eagle: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6 apples * $1/apple +  1 bag sugar * $1.50/bag  + 1 bag chips *  $4.00/bag = $11.50</a:t>
            </a:r>
          </a:p>
          <a:p>
            <a:pPr algn="ctr"/>
            <a:endParaRPr lang="en-US" dirty="0"/>
          </a:p>
          <a:p>
            <a:pPr algn="ctr"/>
            <a:r>
              <a:rPr lang="en-US" u="sng" dirty="0"/>
              <a:t>Cost at Food Lion: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 6 apples * $0.8/apple + 1 bag sugar * $1.50/bag  + 1 bag chips *  $4.00/bag = $10.30</a:t>
            </a:r>
          </a:p>
        </p:txBody>
      </p:sp>
    </p:spTree>
    <p:extLst>
      <p:ext uri="{BB962C8B-B14F-4D97-AF65-F5344CB8AC3E}">
        <p14:creationId xmlns:p14="http://schemas.microsoft.com/office/powerpoint/2010/main" val="522736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247</Words>
  <Application>Microsoft Macintosh PowerPoint</Application>
  <PresentationFormat>Widescreen</PresentationFormat>
  <Paragraphs>63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W Cohen</dc:creator>
  <cp:lastModifiedBy>William W Cohen</cp:lastModifiedBy>
  <cp:revision>15</cp:revision>
  <dcterms:created xsi:type="dcterms:W3CDTF">2025-11-23T21:56:45Z</dcterms:created>
  <dcterms:modified xsi:type="dcterms:W3CDTF">2025-11-25T21:36:15Z</dcterms:modified>
</cp:coreProperties>
</file>