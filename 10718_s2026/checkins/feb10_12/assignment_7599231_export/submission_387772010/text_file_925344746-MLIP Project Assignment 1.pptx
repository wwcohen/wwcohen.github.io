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Archivo" pitchFamily="2" charset="77"/>
      <p:regular r:id="rId10"/>
      <p:bold r:id="rId11"/>
      <p:italic r:id="rId12"/>
      <p:boldItalic r:id="rId13"/>
    </p:embeddedFont>
    <p:embeddedFont>
      <p:font typeface="Darker Grotesque" pitchFamily="2" charset="0"/>
      <p:regular r:id="rId14"/>
      <p:bold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7"/>
    <p:restoredTop sz="94630"/>
  </p:normalViewPr>
  <p:slideViewPr>
    <p:cSldViewPr snapToGrid="0">
      <p:cViewPr varScale="1">
        <p:scale>
          <a:sx n="179" d="100"/>
          <a:sy n="179" d="100"/>
        </p:scale>
        <p:origin x="77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7cab93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7cab93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 framings: Characterize when (and whether) pretraining loss is a reliable proxy for downstream utility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a succinct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6c9c3a88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6c9c3a88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6c9c3a88e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6c9c3a88e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000">
                <a:solidFill>
                  <a:srgbClr val="595959"/>
                </a:solidFill>
              </a:rPr>
              <a:t>The regular human genome is A-T rich (not uniformly distributed). If the bases were independently sampled at random, each occur about ~25% of the time - a trivial model that learns base frequencies can do better than random guessing.</a:t>
            </a:r>
            <a:endParaRPr sz="1000">
              <a:solidFill>
                <a:srgbClr val="595959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the eval datasets, plots are for the test samples; lighter colour is Y=0; darker for Y=1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- For 2nd row, plots are for Y=1 only, I also have plots of the difference if needed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000">
                <a:solidFill>
                  <a:srgbClr val="595959"/>
                </a:solidFill>
              </a:rPr>
              <a:t>2nd metric Shows how much learnable structure exists beyond single-base frequencies (this may fit better in comparison with the promoter dataset - since promoter sites have more CG clusters)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6c9c3a88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6c9c3a88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000">
                <a:solidFill>
                  <a:srgbClr val="595959"/>
                </a:solidFill>
              </a:rPr>
              <a:t>The regular human genome is A-T rich (not uniformly distributed). If the bases were independently sampled at random, each occur about ~25% of the time - a trivial model that learns base frequencies can do better than random guessing.</a:t>
            </a:r>
            <a:endParaRPr sz="1000">
              <a:solidFill>
                <a:srgbClr val="595959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the eval datasets, plots are for the test samples; lighter colour is Y=0; darker for Y=1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6c9c3a88e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6c9c3a88e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000">
                <a:solidFill>
                  <a:srgbClr val="595959"/>
                </a:solidFill>
              </a:rPr>
              <a:t>The regular human genome is A-T rich (not uniformly distributed). If the bases were independently sampled at random, each occur about ~25% of the time - a trivial model that learns base frequencies can do better than random guessing.</a:t>
            </a:r>
            <a:endParaRPr sz="1000">
              <a:solidFill>
                <a:srgbClr val="595959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lang="en" sz="1000">
                <a:solidFill>
                  <a:srgbClr val="595959"/>
                </a:solidFill>
              </a:rPr>
              <a:t>Heatmaps are similar across datasets → HG38 pretraining captures shared DNA structure. But classification signal lies in subtle deviations from this shared background → the model must learn fine-grained patterns beyond general DNA statistics.</a:t>
            </a:r>
            <a:endParaRPr sz="1000">
              <a:solidFill>
                <a:srgbClr val="595959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the eval datasets, plots are for the test samples; lighter colour is Y=0; darker for Y=1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- For 2nd row, plots are for Y=1 only, I also have plots of the difference if needed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000">
                <a:solidFill>
                  <a:srgbClr val="595959"/>
                </a:solidFill>
              </a:rPr>
              <a:t>2nd metric Shows how much learnable structure exists beyond single-base frequencies (this may fit better in comparison with the promoter dataset - since promoter sites have more CG clusters)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67cab93d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67cab93d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datasets/genome/GCF_000001405.26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hgdownload.soe.ucsc.edu/goldenPath/hg3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huggingface.co/datasets/InstaDeepAI/nucleotide_transformer_downstream_task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10718 Assignment 1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Proposal and Data Exploration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Team: Maitreyi Swaroop, Sukjun Hwang, Fahim Tajwar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Core question:</a:t>
            </a:r>
            <a:r>
              <a:rPr lang="en"/>
              <a:t> Does pretraining perplexity predict downstream task performance in genomic language models?</a:t>
            </a:r>
            <a:br>
              <a:rPr lang="en"/>
            </a:b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Approach:</a:t>
            </a:r>
            <a:r>
              <a:rPr lang="en"/>
              <a:t> Pretrain DNA language models on the human reference genome (HG38). Evaluate on enhancer/promoter prediction tasks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Why it matters:</a:t>
            </a:r>
            <a:r>
              <a:rPr lang="en"/>
              <a:t> Determines if perplexity is a meaningful metric for genomic model development</a:t>
            </a:r>
            <a:endParaRPr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372575" y="4652775"/>
            <a:ext cx="8459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References: </a:t>
            </a:r>
            <a:r>
              <a:rPr lang="en" sz="1000" i="1" u="sng">
                <a:solidFill>
                  <a:schemeClr val="hlink"/>
                </a:solidFill>
                <a:hlinkClick r:id="rId3"/>
              </a:rPr>
              <a:t>https://www.ncbi.nlm.nih.gov/datasets/genome/GCF_000001405.26/</a:t>
            </a:r>
            <a:endParaRPr sz="10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311662" y="1406725"/>
            <a:ext cx="5338283" cy="3027700"/>
            <a:chOff x="2428875" y="1057900"/>
            <a:chExt cx="4286400" cy="3027700"/>
          </a:xfrm>
        </p:grpSpPr>
        <p:sp>
          <p:nvSpPr>
            <p:cNvPr id="69" name="Google Shape;69;p15"/>
            <p:cNvSpPr/>
            <p:nvPr/>
          </p:nvSpPr>
          <p:spPr>
            <a:xfrm>
              <a:off x="2428875" y="1057900"/>
              <a:ext cx="4286400" cy="924600"/>
            </a:xfrm>
            <a:prstGeom prst="roundRect">
              <a:avLst>
                <a:gd name="adj" fmla="val 19759"/>
              </a:avLst>
            </a:prstGeom>
            <a:solidFill>
              <a:srgbClr val="FFFFFF"/>
            </a:solidFill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2428875" y="2109450"/>
              <a:ext cx="4286400" cy="924600"/>
            </a:xfrm>
            <a:prstGeom prst="roundRect">
              <a:avLst>
                <a:gd name="adj" fmla="val 19759"/>
              </a:avLst>
            </a:prstGeom>
            <a:solidFill>
              <a:srgbClr val="ADC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2428875" y="3161000"/>
              <a:ext cx="4286400" cy="924600"/>
            </a:xfrm>
            <a:prstGeom prst="roundRect">
              <a:avLst>
                <a:gd name="adj" fmla="val 19759"/>
              </a:avLst>
            </a:prstGeom>
            <a:solidFill>
              <a:srgbClr val="83AF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2490974" y="1120000"/>
              <a:ext cx="1873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PRETRAINING: HG38</a:t>
              </a:r>
              <a:endParaRPr sz="1800" b="1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4522059" y="1120000"/>
              <a:ext cx="2131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100" dirty="0">
                  <a:solidFill>
                    <a:schemeClr val="dk1"/>
                  </a:solidFill>
                </a:rPr>
                <a:t>Human reference genome - consensus human DNA sequence.</a:t>
              </a:r>
              <a:endParaRPr sz="1100" dirty="0">
                <a:solidFill>
                  <a:schemeClr val="dk1"/>
                </a:solidFill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2490974" y="2171550"/>
              <a:ext cx="1926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TASK</a:t>
              </a:r>
              <a:r>
                <a:rPr lang="en" sz="1800" b="1">
                  <a:solidFill>
                    <a:srgbClr val="000000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 </a:t>
              </a: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1: </a:t>
              </a:r>
              <a:b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Enhancer Classification</a:t>
              </a:r>
              <a:endParaRPr sz="1800" b="1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4521747" y="2171550"/>
              <a:ext cx="2131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Binary</a:t>
              </a:r>
              <a:r>
                <a:rPr lang="en" sz="1100" b="1">
                  <a:solidFill>
                    <a:schemeClr val="dk1"/>
                  </a:solidFill>
                </a:rPr>
                <a:t> </a:t>
              </a:r>
              <a:r>
                <a:rPr lang="en" sz="1100">
                  <a:solidFill>
                    <a:schemeClr val="dk1"/>
                  </a:solidFill>
                </a:rPr>
                <a:t>classification dataset to predict whether a DNA sequence is an enhancer i.e. regulatory element that increases gene transcription</a:t>
              </a:r>
              <a:endParaRPr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2490974" y="3223100"/>
              <a:ext cx="1873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TASK</a:t>
              </a:r>
              <a:r>
                <a:rPr lang="en" sz="1800" b="1">
                  <a:solidFill>
                    <a:srgbClr val="000000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 </a:t>
              </a: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2:</a:t>
              </a:r>
              <a:b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Promoter Classification</a:t>
              </a:r>
              <a:endParaRPr sz="1800" b="1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4522109" y="3223100"/>
              <a:ext cx="2131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Binary classification dataset to predict the presence of a promoter element (regions where RNA polymerase binds to initiate transcription) in a DNA sequence</a:t>
              </a:r>
              <a:endParaRPr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5759859" y="1057117"/>
            <a:ext cx="3072492" cy="3377308"/>
            <a:chOff x="2428875" y="708292"/>
            <a:chExt cx="4286400" cy="3377308"/>
          </a:xfrm>
        </p:grpSpPr>
        <p:sp>
          <p:nvSpPr>
            <p:cNvPr id="79" name="Google Shape;79;p15"/>
            <p:cNvSpPr/>
            <p:nvPr/>
          </p:nvSpPr>
          <p:spPr>
            <a:xfrm>
              <a:off x="2428875" y="1057900"/>
              <a:ext cx="4286400" cy="924600"/>
            </a:xfrm>
            <a:prstGeom prst="roundRect">
              <a:avLst>
                <a:gd name="adj" fmla="val 19759"/>
              </a:avLst>
            </a:prstGeom>
            <a:solidFill>
              <a:srgbClr val="FFFFFF"/>
            </a:solidFill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428875" y="2109450"/>
              <a:ext cx="4286400" cy="924600"/>
            </a:xfrm>
            <a:prstGeom prst="roundRect">
              <a:avLst>
                <a:gd name="adj" fmla="val 19759"/>
              </a:avLst>
            </a:prstGeom>
            <a:solidFill>
              <a:srgbClr val="ADC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428875" y="3161000"/>
              <a:ext cx="4286400" cy="924600"/>
            </a:xfrm>
            <a:prstGeom prst="roundRect">
              <a:avLst>
                <a:gd name="adj" fmla="val 19759"/>
              </a:avLst>
            </a:prstGeom>
            <a:solidFill>
              <a:srgbClr val="83AF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3864688" y="708292"/>
              <a:ext cx="1526400" cy="3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 fontScale="92500"/>
            </a:bodyPr>
            <a:lstStyle/>
            <a:p>
              <a:pPr marL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Format</a:t>
              </a:r>
              <a:endParaRPr sz="1800" b="1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2602877" y="1120000"/>
              <a:ext cx="4050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chivo"/>
                <a:buChar char="●"/>
              </a:pPr>
              <a:r>
                <a:rPr lang="en" sz="1100">
                  <a:solidFill>
                    <a:schemeClr val="dk1"/>
                  </a:solidFill>
                </a:rPr>
                <a:t>25 genome sequences </a:t>
              </a:r>
              <a:br>
                <a:rPr lang="en" sz="1100">
                  <a:solidFill>
                    <a:schemeClr val="dk1"/>
                  </a:solidFill>
                </a:rPr>
              </a:br>
              <a:r>
                <a:rPr lang="en" sz="1100">
                  <a:solidFill>
                    <a:schemeClr val="dk1"/>
                  </a:solidFill>
                </a:rPr>
                <a:t>(Chr1-22, X,Y,M)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</a:rPr>
                <a:t>Seq of {A,C,G,T,N}, length O(10^8)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2602728" y="2171550"/>
              <a:ext cx="4050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 fontScale="92500"/>
            </a:bodyPr>
            <a:lstStyle/>
            <a:p>
              <a:pPr marL="457200" lvl="0" indent="-293211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chivo"/>
                <a:buChar char="●"/>
              </a:pPr>
              <a:r>
                <a:rPr lang="en" sz="1100">
                  <a:solidFill>
                    <a:schemeClr val="dk1"/>
                  </a:solidFill>
                </a:rPr>
                <a:t>14,968 training, and 400 test sequences of {A,C,G,T,N}^200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3211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Char char="●"/>
              </a:pPr>
              <a:r>
                <a:rPr lang="en" sz="1100">
                  <a:solidFill>
                    <a:schemeClr val="dk1"/>
                  </a:solidFill>
                </a:rPr>
                <a:t>Baseline test accuracy 50% (even split)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2603001" y="3223100"/>
              <a:ext cx="4050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 fontScale="92500"/>
            </a:bodyPr>
            <a:lstStyle/>
            <a:p>
              <a:pPr marL="457200" lvl="0" indent="-293211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chivo"/>
                <a:buChar char="●"/>
              </a:pPr>
              <a:r>
                <a:rPr lang="en" sz="1100">
                  <a:solidFill>
                    <a:schemeClr val="dk1"/>
                  </a:solidFill>
                </a:rPr>
                <a:t>53,276 training, and 5,920 test sequences of {A,C,G,T,N}^300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3211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Char char="●"/>
              </a:pPr>
              <a:r>
                <a:rPr lang="en" sz="1100">
                  <a:solidFill>
                    <a:schemeClr val="dk1"/>
                  </a:solidFill>
                </a:rPr>
                <a:t>Baseline test accuracy 50% (even split)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sp>
        <p:nvSpPr>
          <p:cNvPr id="86" name="Google Shape;86;p15"/>
          <p:cNvSpPr txBox="1"/>
          <p:nvPr/>
        </p:nvSpPr>
        <p:spPr>
          <a:xfrm>
            <a:off x="2330238" y="1057117"/>
            <a:ext cx="10941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arker Grotesque"/>
                <a:ea typeface="Darker Grotesque"/>
                <a:cs typeface="Darker Grotesque"/>
                <a:sym typeface="Darker Grotesque"/>
              </a:rPr>
              <a:t>Dataset</a:t>
            </a:r>
            <a:endParaRPr sz="1800" b="1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72575" y="4652775"/>
            <a:ext cx="8459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Data sources: </a:t>
            </a:r>
            <a:r>
              <a:rPr lang="en" sz="1000" i="1" u="sng">
                <a:solidFill>
                  <a:schemeClr val="hlink"/>
                </a:solidFill>
                <a:hlinkClick r:id="rId3"/>
              </a:rPr>
              <a:t>UCSC repo</a:t>
            </a:r>
            <a:r>
              <a:rPr lang="en" sz="1000" i="1">
                <a:solidFill>
                  <a:schemeClr val="dk2"/>
                </a:solidFill>
              </a:rPr>
              <a:t>; </a:t>
            </a:r>
            <a:r>
              <a:rPr lang="en" sz="1000" i="1" u="sng">
                <a:solidFill>
                  <a:schemeClr val="hlink"/>
                </a:solidFill>
                <a:hlinkClick r:id="rId4"/>
              </a:rPr>
              <a:t>Huggingface</a:t>
            </a:r>
            <a:endParaRPr sz="10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Preprocessing: missingness in HG38</a:t>
            </a:r>
            <a:endParaRPr/>
          </a:p>
        </p:txBody>
      </p:sp>
      <p:pic>
        <p:nvPicPr>
          <p:cNvPr id="93" name="Google Shape;93;p16" title="5_nfree_segments.png"/>
          <p:cNvPicPr preferRelativeResize="0"/>
          <p:nvPr/>
        </p:nvPicPr>
        <p:blipFill rotWithShape="1">
          <a:blip r:embed="rId3">
            <a:alphaModFix/>
          </a:blip>
          <a:srcRect r="49733"/>
          <a:stretch/>
        </p:blipFill>
        <p:spPr>
          <a:xfrm>
            <a:off x="6102100" y="196825"/>
            <a:ext cx="2562898" cy="214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5_nfree_segments.png"/>
          <p:cNvPicPr preferRelativeResize="0"/>
          <p:nvPr/>
        </p:nvPicPr>
        <p:blipFill rotWithShape="1">
          <a:blip r:embed="rId3">
            <a:alphaModFix/>
          </a:blip>
          <a:srcRect l="49733"/>
          <a:stretch/>
        </p:blipFill>
        <p:spPr>
          <a:xfrm>
            <a:off x="6102101" y="2498375"/>
            <a:ext cx="2562898" cy="21484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447575" y="1137300"/>
            <a:ext cx="5224200" cy="75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‘N’s indicate unsequenced/ambiguous regions in the reference genome (~5% of bases)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47575" y="2006875"/>
            <a:ext cx="5224200" cy="102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Approach: </a:t>
            </a:r>
            <a:r>
              <a:rPr lang="en" dirty="0"/>
              <a:t>Split genome on N-gaps, discard Ns, chunk N-free segments into fixed-length windows (standard practice*)</a:t>
            </a:r>
            <a:endParaRPr dirty="0"/>
          </a:p>
        </p:txBody>
      </p:sp>
      <p:sp>
        <p:nvSpPr>
          <p:cNvPr id="97" name="Google Shape;97;p16"/>
          <p:cNvSpPr txBox="1"/>
          <p:nvPr/>
        </p:nvSpPr>
        <p:spPr>
          <a:xfrm>
            <a:off x="372575" y="4652775"/>
            <a:ext cx="8459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References: *DNABERT, HyenaDNA, Nucleotide Transformer</a:t>
            </a:r>
            <a:endParaRPr sz="10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47575" y="3147950"/>
            <a:ext cx="5224200" cy="102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Implications: </a:t>
            </a:r>
            <a:r>
              <a:rPr lang="en" dirty="0"/>
              <a:t>Negligible data loss from masking Ns/chunking; &gt;90% of genome bases remain usable even at large contexts; not a concern at our 200–300bp downstream task lengths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7"/>
          <p:cNvGrpSpPr/>
          <p:nvPr/>
        </p:nvGrpSpPr>
        <p:grpSpPr>
          <a:xfrm>
            <a:off x="1406375" y="1129804"/>
            <a:ext cx="2193372" cy="611715"/>
            <a:chOff x="311695" y="1406725"/>
            <a:chExt cx="2484000" cy="924600"/>
          </a:xfrm>
        </p:grpSpPr>
        <p:sp>
          <p:nvSpPr>
            <p:cNvPr id="104" name="Google Shape;104;p17"/>
            <p:cNvSpPr/>
            <p:nvPr/>
          </p:nvSpPr>
          <p:spPr>
            <a:xfrm>
              <a:off x="311695" y="1406725"/>
              <a:ext cx="2484000" cy="924600"/>
            </a:xfrm>
            <a:prstGeom prst="roundRect">
              <a:avLst>
                <a:gd name="adj" fmla="val 19759"/>
              </a:avLst>
            </a:prstGeom>
            <a:solidFill>
              <a:srgbClr val="FFFFFF"/>
            </a:solidFill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347682" y="1468825"/>
              <a:ext cx="2355668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PRETRAINING: HG38</a:t>
              </a:r>
              <a:endParaRPr sz="1800" b="1" dirty="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106" name="Google Shape;106;p17"/>
          <p:cNvGrpSpPr/>
          <p:nvPr/>
        </p:nvGrpSpPr>
        <p:grpSpPr>
          <a:xfrm>
            <a:off x="3929313" y="1129830"/>
            <a:ext cx="2194586" cy="611715"/>
            <a:chOff x="311695" y="2458275"/>
            <a:chExt cx="2483969" cy="924600"/>
          </a:xfrm>
        </p:grpSpPr>
        <p:sp>
          <p:nvSpPr>
            <p:cNvPr id="107" name="Google Shape;107;p17"/>
            <p:cNvSpPr/>
            <p:nvPr/>
          </p:nvSpPr>
          <p:spPr>
            <a:xfrm>
              <a:off x="311695" y="2458275"/>
              <a:ext cx="2483969" cy="924600"/>
            </a:xfrm>
            <a:prstGeom prst="roundRect">
              <a:avLst>
                <a:gd name="adj" fmla="val 19759"/>
              </a:avLst>
            </a:prstGeom>
            <a:solidFill>
              <a:srgbClr val="ADC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347682" y="2520375"/>
              <a:ext cx="2355668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TASK</a:t>
              </a:r>
              <a:r>
                <a:rPr lang="en" sz="1800" b="1">
                  <a:solidFill>
                    <a:srgbClr val="000000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 </a:t>
              </a: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1: </a:t>
              </a:r>
              <a:b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800" b="1">
                  <a:latin typeface="Darker Grotesque"/>
                  <a:ea typeface="Darker Grotesque"/>
                  <a:cs typeface="Darker Grotesque"/>
                  <a:sym typeface="Darker Grotesque"/>
                </a:rPr>
                <a:t>Enhancer</a:t>
              </a:r>
              <a:endParaRPr sz="1800" b="1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6453439" y="1129862"/>
            <a:ext cx="2194586" cy="611715"/>
            <a:chOff x="311695" y="3509825"/>
            <a:chExt cx="2483969" cy="924600"/>
          </a:xfrm>
        </p:grpSpPr>
        <p:sp>
          <p:nvSpPr>
            <p:cNvPr id="110" name="Google Shape;110;p17"/>
            <p:cNvSpPr/>
            <p:nvPr/>
          </p:nvSpPr>
          <p:spPr>
            <a:xfrm>
              <a:off x="311695" y="3509825"/>
              <a:ext cx="2483969" cy="924600"/>
            </a:xfrm>
            <a:prstGeom prst="roundRect">
              <a:avLst>
                <a:gd name="adj" fmla="val 19759"/>
              </a:avLst>
            </a:prstGeom>
            <a:solidFill>
              <a:srgbClr val="83AF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347682" y="3571925"/>
              <a:ext cx="2355668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TASK</a:t>
              </a:r>
              <a:r>
                <a:rPr lang="en" sz="1800" b="1" dirty="0">
                  <a:solidFill>
                    <a:srgbClr val="000000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 </a:t>
              </a: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2:</a:t>
              </a:r>
              <a:b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Promoter</a:t>
              </a:r>
              <a:endParaRPr sz="1800" b="1" dirty="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112" name="Google Shape;112;p17"/>
          <p:cNvGrpSpPr/>
          <p:nvPr/>
        </p:nvGrpSpPr>
        <p:grpSpPr>
          <a:xfrm>
            <a:off x="134314" y="2418089"/>
            <a:ext cx="1272056" cy="924600"/>
            <a:chOff x="311695" y="1406725"/>
            <a:chExt cx="2484000" cy="924600"/>
          </a:xfrm>
        </p:grpSpPr>
        <p:sp>
          <p:nvSpPr>
            <p:cNvPr id="113" name="Google Shape;113;p17"/>
            <p:cNvSpPr/>
            <p:nvPr/>
          </p:nvSpPr>
          <p:spPr>
            <a:xfrm>
              <a:off x="311695" y="1406725"/>
              <a:ext cx="2484000" cy="924600"/>
            </a:xfrm>
            <a:prstGeom prst="roundRect">
              <a:avLst>
                <a:gd name="adj" fmla="val 19759"/>
              </a:avLst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347682" y="1468825"/>
              <a:ext cx="2355600" cy="800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Darker Grotesque"/>
                  <a:ea typeface="Darker Grotesque"/>
                  <a:cs typeface="Darker Grotesque"/>
                  <a:sym typeface="Darker Grotesque"/>
                </a:rPr>
                <a:t>Overall base composition</a:t>
              </a:r>
              <a:endParaRPr sz="1600" b="1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r="50561"/>
          <a:stretch/>
        </p:blipFill>
        <p:spPr>
          <a:xfrm>
            <a:off x="3695752" y="1866765"/>
            <a:ext cx="2558735" cy="181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4">
            <a:alphaModFix/>
          </a:blip>
          <a:srcRect r="49922"/>
          <a:stretch/>
        </p:blipFill>
        <p:spPr>
          <a:xfrm>
            <a:off x="6350483" y="1865402"/>
            <a:ext cx="2560323" cy="181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0500" y="1866758"/>
            <a:ext cx="2241125" cy="181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comparison: composition at unigram level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83800" y="3864425"/>
            <a:ext cx="8576400" cy="1148700"/>
          </a:xfrm>
          <a:prstGeom prst="roundRect">
            <a:avLst>
              <a:gd name="adj" fmla="val 19759"/>
            </a:avLst>
          </a:prstGeom>
          <a:solidFill>
            <a:srgbClr val="F3F3F3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lt2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80275" y="4025834"/>
            <a:ext cx="8267700" cy="8082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latin typeface="Darker Grotesque"/>
                <a:ea typeface="Darker Grotesque"/>
                <a:cs typeface="Darker Grotesque"/>
                <a:sym typeface="Darker Grotesque"/>
              </a:rPr>
              <a:t>Insights: </a:t>
            </a:r>
            <a:r>
              <a:rPr lang="en" sz="2000" b="1" dirty="0">
                <a:latin typeface="Darker Grotesque"/>
                <a:ea typeface="Darker Grotesque"/>
                <a:cs typeface="Darker Grotesque"/>
                <a:sym typeface="Darker Grotesque"/>
              </a:rPr>
              <a:t>Regular human genome is A/T rich (not uniformly distributed).</a:t>
            </a:r>
            <a:endParaRPr sz="2000" b="1" dirty="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Darker Grotesque"/>
                <a:ea typeface="Darker Grotesque"/>
                <a:cs typeface="Darker Grotesque"/>
                <a:sym typeface="Darker Grotesque"/>
              </a:rPr>
              <a:t>A trivial model that learns base frequencies can do better than random guessing.</a:t>
            </a:r>
            <a:endParaRPr sz="2000" b="1" dirty="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115901" y="2256750"/>
            <a:ext cx="1084018" cy="924600"/>
            <a:chOff x="311695" y="1406725"/>
            <a:chExt cx="2484000" cy="924600"/>
          </a:xfrm>
        </p:grpSpPr>
        <p:sp>
          <p:nvSpPr>
            <p:cNvPr id="126" name="Google Shape;126;p18"/>
            <p:cNvSpPr/>
            <p:nvPr/>
          </p:nvSpPr>
          <p:spPr>
            <a:xfrm>
              <a:off x="311695" y="1406725"/>
              <a:ext cx="2484000" cy="924600"/>
            </a:xfrm>
            <a:prstGeom prst="roundRect">
              <a:avLst>
                <a:gd name="adj" fmla="val 19759"/>
              </a:avLst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347696" y="1468811"/>
              <a:ext cx="2357700" cy="800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rmAutofit fontScale="92500" lnSpcReduction="20000"/>
            </a:bodyPr>
            <a:lstStyle/>
            <a:p>
              <a:pPr marL="0" lvl="0" indent="0" algn="ctr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Bigram </a:t>
              </a:r>
              <a:b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b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Observed/</a:t>
              </a:r>
              <a:b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b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Expected </a:t>
              </a:r>
              <a:b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b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6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(O/E)</a:t>
              </a:r>
              <a:endParaRPr sz="1600" b="1" dirty="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pic>
        <p:nvPicPr>
          <p:cNvPr id="128" name="Google Shape;128;p18" title="3_kmer_analysis.png"/>
          <p:cNvPicPr preferRelativeResize="0"/>
          <p:nvPr/>
        </p:nvPicPr>
        <p:blipFill rotWithShape="1">
          <a:blip r:embed="rId3">
            <a:alphaModFix/>
          </a:blip>
          <a:srcRect t="5042" r="53870"/>
          <a:stretch/>
        </p:blipFill>
        <p:spPr>
          <a:xfrm>
            <a:off x="1355699" y="1858084"/>
            <a:ext cx="2129224" cy="189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l="33646" t="5114" r="33831"/>
          <a:stretch/>
        </p:blipFill>
        <p:spPr>
          <a:xfrm>
            <a:off x="6452460" y="1856366"/>
            <a:ext cx="2130186" cy="1893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5">
            <a:alphaModFix/>
          </a:blip>
          <a:srcRect l="33123" t="6402" r="37940"/>
          <a:stretch/>
        </p:blipFill>
        <p:spPr>
          <a:xfrm>
            <a:off x="3903594" y="1856653"/>
            <a:ext cx="2130176" cy="189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comparison: composition at bigram level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292600" y="3810633"/>
            <a:ext cx="8576400" cy="1085100"/>
          </a:xfrm>
          <a:prstGeom prst="roundRect">
            <a:avLst>
              <a:gd name="adj" fmla="val 19759"/>
            </a:avLst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80353" y="3823286"/>
            <a:ext cx="8267700" cy="7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i="1" dirty="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1406375" y="1129804"/>
            <a:ext cx="2193372" cy="611715"/>
            <a:chOff x="311695" y="1406725"/>
            <a:chExt cx="2484000" cy="924600"/>
          </a:xfrm>
        </p:grpSpPr>
        <p:sp>
          <p:nvSpPr>
            <p:cNvPr id="135" name="Google Shape;135;p18"/>
            <p:cNvSpPr/>
            <p:nvPr/>
          </p:nvSpPr>
          <p:spPr>
            <a:xfrm>
              <a:off x="311695" y="1406725"/>
              <a:ext cx="2484000" cy="924600"/>
            </a:xfrm>
            <a:prstGeom prst="roundRect">
              <a:avLst>
                <a:gd name="adj" fmla="val 19759"/>
              </a:avLst>
            </a:prstGeom>
            <a:solidFill>
              <a:srgbClr val="FFFFFF"/>
            </a:solidFill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347682" y="1468825"/>
              <a:ext cx="2355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PRETRAINING: HG38</a:t>
              </a:r>
              <a:endParaRPr sz="1800" b="1" dirty="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3929313" y="1129830"/>
            <a:ext cx="2194614" cy="611715"/>
            <a:chOff x="311695" y="2458275"/>
            <a:chExt cx="2484000" cy="924600"/>
          </a:xfrm>
        </p:grpSpPr>
        <p:sp>
          <p:nvSpPr>
            <p:cNvPr id="138" name="Google Shape;138;p18"/>
            <p:cNvSpPr/>
            <p:nvPr/>
          </p:nvSpPr>
          <p:spPr>
            <a:xfrm>
              <a:off x="311695" y="2458275"/>
              <a:ext cx="2484000" cy="924600"/>
            </a:xfrm>
            <a:prstGeom prst="roundRect">
              <a:avLst>
                <a:gd name="adj" fmla="val 19759"/>
              </a:avLst>
            </a:prstGeom>
            <a:solidFill>
              <a:srgbClr val="ADC2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347682" y="2520375"/>
              <a:ext cx="2355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TASK</a:t>
              </a:r>
              <a:r>
                <a:rPr lang="en" sz="1800" b="1" dirty="0">
                  <a:solidFill>
                    <a:srgbClr val="000000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 </a:t>
              </a: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1: </a:t>
              </a:r>
              <a:b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Enhancer</a:t>
              </a:r>
              <a:endParaRPr sz="1800" b="1" dirty="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6453439" y="1129862"/>
            <a:ext cx="2194614" cy="611715"/>
            <a:chOff x="311695" y="3509825"/>
            <a:chExt cx="2484000" cy="924600"/>
          </a:xfrm>
        </p:grpSpPr>
        <p:sp>
          <p:nvSpPr>
            <p:cNvPr id="141" name="Google Shape;141;p18"/>
            <p:cNvSpPr/>
            <p:nvPr/>
          </p:nvSpPr>
          <p:spPr>
            <a:xfrm>
              <a:off x="311695" y="3509825"/>
              <a:ext cx="2484000" cy="924600"/>
            </a:xfrm>
            <a:prstGeom prst="roundRect">
              <a:avLst>
                <a:gd name="adj" fmla="val 19759"/>
              </a:avLst>
            </a:prstGeom>
            <a:solidFill>
              <a:srgbClr val="83AF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47682" y="3571925"/>
              <a:ext cx="2355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TASK</a:t>
              </a:r>
              <a:r>
                <a:rPr lang="en" sz="1800" b="1" dirty="0">
                  <a:solidFill>
                    <a:srgbClr val="000000"/>
                  </a:solidFill>
                  <a:latin typeface="Darker Grotesque"/>
                  <a:ea typeface="Darker Grotesque"/>
                  <a:cs typeface="Darker Grotesque"/>
                  <a:sym typeface="Darker Grotesque"/>
                </a:rPr>
                <a:t> </a:t>
              </a: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2:</a:t>
              </a:r>
              <a:b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</a:br>
              <a:r>
                <a:rPr lang="en" sz="1800" b="1" dirty="0">
                  <a:latin typeface="Darker Grotesque"/>
                  <a:ea typeface="Darker Grotesque"/>
                  <a:cs typeface="Darker Grotesque"/>
                  <a:sym typeface="Darker Grotesque"/>
                </a:rPr>
                <a:t>Promoter</a:t>
              </a:r>
              <a:endParaRPr sz="1800" b="1" dirty="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sp>
        <p:nvSpPr>
          <p:cNvPr id="143" name="Google Shape;143;p18"/>
          <p:cNvSpPr/>
          <p:nvPr/>
        </p:nvSpPr>
        <p:spPr>
          <a:xfrm>
            <a:off x="283800" y="3751398"/>
            <a:ext cx="8576400" cy="1148700"/>
          </a:xfrm>
          <a:prstGeom prst="roundRect">
            <a:avLst>
              <a:gd name="adj" fmla="val 19759"/>
            </a:avLst>
          </a:prstGeom>
          <a:solidFill>
            <a:srgbClr val="F3F3F3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chemeClr val="lt2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564600" y="3933810"/>
            <a:ext cx="8267700" cy="8082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latin typeface="Darker Grotesque"/>
                <a:ea typeface="Darker Grotesque"/>
                <a:cs typeface="Darker Grotesque"/>
                <a:sym typeface="Darker Grotesque"/>
              </a:rPr>
              <a:t>Insights: </a:t>
            </a:r>
            <a:r>
              <a:rPr lang="en" sz="2000" b="1" dirty="0">
                <a:latin typeface="Darker Grotesque"/>
                <a:ea typeface="Darker Grotesque"/>
                <a:cs typeface="Darker Grotesque"/>
                <a:sym typeface="Darker Grotesque"/>
              </a:rPr>
              <a:t>O/E ≠0 ⇒ bases are not independent, justifying a sequence model.</a:t>
            </a:r>
            <a:br>
              <a:rPr lang="en" sz="2000" b="1" dirty="0">
                <a:latin typeface="Darker Grotesque"/>
                <a:ea typeface="Darker Grotesque"/>
                <a:cs typeface="Darker Grotesque"/>
                <a:sym typeface="Darker Grotesque"/>
              </a:rPr>
            </a:br>
            <a:br>
              <a:rPr lang="en" sz="2000" b="1" dirty="0">
                <a:latin typeface="Darker Grotesque"/>
                <a:ea typeface="Darker Grotesque"/>
                <a:cs typeface="Darker Grotesque"/>
                <a:sym typeface="Darker Grotesque"/>
              </a:rPr>
            </a:br>
            <a:r>
              <a:rPr lang="en" sz="2000" b="1" dirty="0">
                <a:latin typeface="Darker Grotesque"/>
                <a:ea typeface="Darker Grotesque"/>
                <a:cs typeface="Darker Grotesque"/>
                <a:sym typeface="Darker Grotesque"/>
              </a:rPr>
              <a:t>Heatmaps share ~ structure across datasets, promoter seq show highest deviation.</a:t>
            </a:r>
            <a:endParaRPr sz="2000" b="1" dirty="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43" grpId="0" animBg="1"/>
      <p:bldP spid="1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grpSp>
        <p:nvGrpSpPr>
          <p:cNvPr id="150" name="Google Shape;150;p19"/>
          <p:cNvGrpSpPr/>
          <p:nvPr/>
        </p:nvGrpSpPr>
        <p:grpSpPr>
          <a:xfrm>
            <a:off x="4381525" y="1130825"/>
            <a:ext cx="2631900" cy="2459600"/>
            <a:chOff x="4394475" y="1123699"/>
            <a:chExt cx="2631900" cy="2459600"/>
          </a:xfrm>
        </p:grpSpPr>
        <p:sp>
          <p:nvSpPr>
            <p:cNvPr id="151" name="Google Shape;151;p19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2" name="Google Shape;152;p19"/>
            <p:cNvGrpSpPr/>
            <p:nvPr/>
          </p:nvGrpSpPr>
          <p:grpSpPr>
            <a:xfrm>
              <a:off x="4394475" y="1123699"/>
              <a:ext cx="2631900" cy="2459600"/>
              <a:chOff x="4394475" y="1123699"/>
              <a:chExt cx="2631900" cy="2459600"/>
            </a:xfrm>
          </p:grpSpPr>
          <p:grpSp>
            <p:nvGrpSpPr>
              <p:cNvPr id="153" name="Google Shape;153;p19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54" name="Google Shape;154;p19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55" name="Google Shape;155;p19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6" name="Google Shape;156;p19"/>
              <p:cNvSpPr txBox="1"/>
              <p:nvPr/>
            </p:nvSpPr>
            <p:spPr>
              <a:xfrm>
                <a:off x="4394475" y="3211899"/>
                <a:ext cx="9201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latin typeface="Roboto"/>
                    <a:ea typeface="Roboto"/>
                    <a:cs typeface="Roboto"/>
                    <a:sym typeface="Roboto"/>
                  </a:rPr>
                  <a:t>Additional Metrics</a:t>
                </a:r>
                <a:endParaRPr sz="12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7" name="Google Shape;157;p19"/>
              <p:cNvSpPr txBox="1"/>
              <p:nvPr/>
            </p:nvSpPr>
            <p:spPr>
              <a:xfrm>
                <a:off x="4394475" y="1123699"/>
                <a:ext cx="2631900" cy="103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100" b="1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Finetune on Downstream Benchmarks</a:t>
                </a:r>
                <a:endParaRPr sz="11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1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Finetune on different datasets using weights pretrained on HG38</a:t>
                </a:r>
                <a:endParaRPr sz="11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1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Examine if better perplexity on HG38 directly leads to universally better genome understanding</a:t>
                </a:r>
                <a:endParaRPr sz="8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endParaRPr sz="800" b="1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8" name="Google Shape;158;p19"/>
          <p:cNvGrpSpPr/>
          <p:nvPr/>
        </p:nvGrpSpPr>
        <p:grpSpPr>
          <a:xfrm>
            <a:off x="6385874" y="2529275"/>
            <a:ext cx="2758126" cy="2047500"/>
            <a:chOff x="6398824" y="2522149"/>
            <a:chExt cx="2758126" cy="2047500"/>
          </a:xfrm>
        </p:grpSpPr>
        <p:sp>
          <p:nvSpPr>
            <p:cNvPr id="159" name="Google Shape;159;p19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" name="Google Shape;160;p19"/>
            <p:cNvGrpSpPr/>
            <p:nvPr/>
          </p:nvGrpSpPr>
          <p:grpSpPr>
            <a:xfrm>
              <a:off x="6398824" y="2522149"/>
              <a:ext cx="2671051" cy="2047500"/>
              <a:chOff x="6398824" y="2522149"/>
              <a:chExt cx="2671051" cy="2047500"/>
            </a:xfrm>
          </p:grpSpPr>
          <p:grpSp>
            <p:nvGrpSpPr>
              <p:cNvPr id="161" name="Google Shape;161;p19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62" name="Google Shape;162;p19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63" name="Google Shape;163;p19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4" name="Google Shape;164;p19"/>
              <p:cNvSpPr txBox="1"/>
              <p:nvPr/>
            </p:nvSpPr>
            <p:spPr>
              <a:xfrm>
                <a:off x="6398824" y="2522149"/>
                <a:ext cx="814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 dirty="0">
                    <a:latin typeface="Roboto"/>
                    <a:ea typeface="Roboto"/>
                    <a:cs typeface="Roboto"/>
                    <a:sym typeface="Roboto"/>
                  </a:rPr>
                  <a:t>Final Report</a:t>
                </a:r>
                <a:endParaRPr sz="1200" b="1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5" name="Google Shape;165;p19"/>
              <p:cNvSpPr txBox="1"/>
              <p:nvPr/>
            </p:nvSpPr>
            <p:spPr>
              <a:xfrm>
                <a:off x="6676775" y="3494449"/>
                <a:ext cx="2393100" cy="107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Roboto"/>
                    <a:ea typeface="Roboto"/>
                    <a:cs typeface="Roboto"/>
                    <a:sym typeface="Roboto"/>
                  </a:rPr>
                  <a:t>Consolidate Experimental Results</a:t>
                </a:r>
                <a:endParaRPr sz="1100" b="1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Write a technical report with all experimental results, and share our observations</a:t>
                </a:r>
                <a:endParaRPr sz="1100" b="1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endParaRPr sz="8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66" name="Google Shape;166;p19"/>
          <p:cNvGrpSpPr/>
          <p:nvPr/>
        </p:nvGrpSpPr>
        <p:grpSpPr>
          <a:xfrm>
            <a:off x="432026" y="1678977"/>
            <a:ext cx="2631749" cy="1913660"/>
            <a:chOff x="444976" y="1670714"/>
            <a:chExt cx="2631749" cy="1913660"/>
          </a:xfrm>
        </p:grpSpPr>
        <p:sp>
          <p:nvSpPr>
            <p:cNvPr id="167" name="Google Shape;167;p19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" name="Google Shape;168;p19"/>
            <p:cNvGrpSpPr/>
            <p:nvPr/>
          </p:nvGrpSpPr>
          <p:grpSpPr>
            <a:xfrm>
              <a:off x="444976" y="1670714"/>
              <a:ext cx="2631749" cy="1913660"/>
              <a:chOff x="444976" y="1670714"/>
              <a:chExt cx="2631749" cy="1913660"/>
            </a:xfrm>
          </p:grpSpPr>
          <p:sp>
            <p:nvSpPr>
              <p:cNvPr id="169" name="Google Shape;169;p19"/>
              <p:cNvSpPr txBox="1"/>
              <p:nvPr/>
            </p:nvSpPr>
            <p:spPr>
              <a:xfrm>
                <a:off x="444976" y="3212974"/>
                <a:ext cx="9645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 dirty="0">
                    <a:latin typeface="Roboto"/>
                    <a:ea typeface="Roboto"/>
                    <a:cs typeface="Roboto"/>
                    <a:sym typeface="Roboto"/>
                  </a:rPr>
                  <a:t>Proposal and Data Exploration</a:t>
                </a:r>
                <a:endParaRPr sz="1200" b="1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70" name="Google Shape;170;p19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71" name="Google Shape;171;p19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72" name="Google Shape;172;p19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3" name="Google Shape;173;p19"/>
              <p:cNvSpPr txBox="1"/>
              <p:nvPr/>
            </p:nvSpPr>
            <p:spPr>
              <a:xfrm>
                <a:off x="823125" y="1670714"/>
                <a:ext cx="2253600" cy="11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100" b="1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Explore Datasets</a:t>
                </a:r>
                <a:endParaRPr sz="11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1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1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We discussed about multiple genome datasets: HG38, Enhancer, and Promoter</a:t>
                </a:r>
                <a:endParaRPr sz="800" b="1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74" name="Google Shape;174;p19"/>
          <p:cNvGrpSpPr/>
          <p:nvPr/>
        </p:nvGrpSpPr>
        <p:grpSpPr>
          <a:xfrm>
            <a:off x="2449125" y="2709592"/>
            <a:ext cx="2564874" cy="1867040"/>
            <a:chOff x="2462076" y="2702599"/>
            <a:chExt cx="2564874" cy="1735651"/>
          </a:xfrm>
        </p:grpSpPr>
        <p:sp>
          <p:nvSpPr>
            <p:cNvPr id="175" name="Google Shape;175;p19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" name="Google Shape;176;p19"/>
            <p:cNvGrpSpPr/>
            <p:nvPr/>
          </p:nvGrpSpPr>
          <p:grpSpPr>
            <a:xfrm>
              <a:off x="2462076" y="2702599"/>
              <a:ext cx="2564874" cy="1735651"/>
              <a:chOff x="2462076" y="2702599"/>
              <a:chExt cx="2564874" cy="1735651"/>
            </a:xfrm>
          </p:grpSpPr>
          <p:sp>
            <p:nvSpPr>
              <p:cNvPr id="177" name="Google Shape;177;p19"/>
              <p:cNvSpPr txBox="1"/>
              <p:nvPr/>
            </p:nvSpPr>
            <p:spPr>
              <a:xfrm>
                <a:off x="2462076" y="2702599"/>
                <a:ext cx="8664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 dirty="0">
                    <a:latin typeface="Roboto"/>
                    <a:ea typeface="Roboto"/>
                    <a:cs typeface="Roboto"/>
                    <a:sym typeface="Roboto"/>
                  </a:rPr>
                  <a:t>Baselines</a:t>
                </a:r>
                <a:endParaRPr sz="1200" b="1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78" name="Google Shape;178;p19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79" name="Google Shape;179;p19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80" name="Google Shape;180;p19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1" name="Google Shape;181;p19"/>
              <p:cNvSpPr txBox="1"/>
              <p:nvPr/>
            </p:nvSpPr>
            <p:spPr>
              <a:xfrm>
                <a:off x="2773350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 dirty="0">
                    <a:latin typeface="Roboto"/>
                    <a:ea typeface="Roboto"/>
                    <a:cs typeface="Roboto"/>
                    <a:sym typeface="Roboto"/>
                  </a:rPr>
                  <a:t>Pretrain on </a:t>
                </a:r>
                <a:r>
                  <a:rPr lang="en" sz="1100" b="1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HG38</a:t>
                </a:r>
                <a:endParaRPr sz="1100" b="1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100" dirty="0">
                    <a:latin typeface="Roboto"/>
                    <a:ea typeface="Roboto"/>
                    <a:cs typeface="Roboto"/>
                    <a:sym typeface="Roboto"/>
                  </a:rPr>
                  <a:t>Train multiple models with different architectures, and observe their perplexity</a:t>
                </a:r>
                <a:endParaRPr sz="1100" b="1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Macintosh PowerPoint</Application>
  <PresentationFormat>On-screen Show (16:9)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Arial</vt:lpstr>
      <vt:lpstr>Archivo</vt:lpstr>
      <vt:lpstr>Darker Grotesque</vt:lpstr>
      <vt:lpstr>Simple Light</vt:lpstr>
      <vt:lpstr>10718 Assignment 1</vt:lpstr>
      <vt:lpstr>Problem Statement</vt:lpstr>
      <vt:lpstr>Dataset overview</vt:lpstr>
      <vt:lpstr>Preprocessing: missingness in HG38</vt:lpstr>
      <vt:lpstr>Dataset comparison: composition at unigram level</vt:lpstr>
      <vt:lpstr>Dataset comparison: composition at bigram level</vt:lpstr>
      <vt:lpstr>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Fahim Tajwar</cp:lastModifiedBy>
  <cp:revision>1</cp:revision>
  <dcterms:modified xsi:type="dcterms:W3CDTF">2026-02-10T17:30:41Z</dcterms:modified>
</cp:coreProperties>
</file>